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alphaModFix amt="60000"/>
          </a:blip>
          <a:stretch>
            <a:fillRect/>
          </a:stretch>
        </p:blipFill>
        <p:spPr>
          <a:xfrm>
            <a:off x="4743" y="0"/>
            <a:ext cx="3810000" cy="10287000"/>
          </a:xfrm>
          <a:prstGeom prst="rect">
            <a:avLst/>
          </a:prstGeom>
        </p:spPr>
      </p:pic>
      <p:pic>
        <p:nvPicPr>
          <p:cNvPr id="3" name="Image 1" descr="preencoded.png">    </p:cNvPr>
          <p:cNvPicPr>
            <a:picLocks noChangeAspect="1"/>
          </p:cNvPicPr>
          <p:nvPr/>
        </p:nvPicPr>
        <p:blipFill>
          <a:blip r:embed="rId3"/>
          <a:stretch>
            <a:fillRect/>
          </a:stretch>
        </p:blipFill>
        <p:spPr>
          <a:xfrm>
            <a:off x="9863519" y="0"/>
            <a:ext cx="8572500" cy="10287000"/>
          </a:xfrm>
          <a:prstGeom prst="rect">
            <a:avLst/>
          </a:prstGeom>
        </p:spPr>
      </p:pic>
      <p:pic>
        <p:nvPicPr>
          <p:cNvPr id="4" name="Image 2" descr="preencoded.png">    </p:cNvPr>
          <p:cNvPicPr>
            <a:picLocks noChangeAspect="1"/>
          </p:cNvPicPr>
          <p:nvPr/>
        </p:nvPicPr>
        <p:blipFill>
          <a:blip r:embed="rId4"/>
          <a:stretch>
            <a:fillRect/>
          </a:stretch>
        </p:blipFill>
        <p:spPr>
          <a:xfrm>
            <a:off x="7428443" y="0"/>
            <a:ext cx="2381250" cy="10287000"/>
          </a:xfrm>
          <a:prstGeom prst="rect">
            <a:avLst/>
          </a:prstGeom>
        </p:spPr>
      </p:pic>
      <p:pic>
        <p:nvPicPr>
          <p:cNvPr id="5" name="Image 3" descr="preencoded.png">    </p:cNvPr>
          <p:cNvPicPr>
            <a:picLocks noChangeAspect="1"/>
          </p:cNvPicPr>
          <p:nvPr/>
        </p:nvPicPr>
        <p:blipFill>
          <a:blip r:embed="rId5"/>
          <a:stretch>
            <a:fillRect/>
          </a:stretch>
        </p:blipFill>
        <p:spPr>
          <a:xfrm>
            <a:off x="952500" y="1143000"/>
            <a:ext cx="571500" cy="571500"/>
          </a:xfrm>
          <a:prstGeom prst="rect">
            <a:avLst/>
          </a:prstGeom>
        </p:spPr>
      </p:pic>
      <p:sp>
        <p:nvSpPr>
          <p:cNvPr id="6" name="Text 0"/>
          <p:cNvSpPr/>
          <p:nvPr/>
        </p:nvSpPr>
        <p:spPr>
          <a:xfrm>
            <a:off x="1714500" y="1285875"/>
            <a:ext cx="5715000" cy="228600"/>
          </a:xfrm>
          <a:prstGeom prst="rect">
            <a:avLst/>
          </a:prstGeom>
          <a:noFill/>
          <a:ln/>
        </p:spPr>
        <p:txBody>
          <a:bodyPr wrap="square" rtlCol="0" anchor="ctr"/>
          <a:lstStyle/>
          <a:p>
            <a:pPr algn="l" indent="0" marL="0">
              <a:lnSpc>
                <a:spcPct val="120000"/>
              </a:lnSpc>
              <a:buNone/>
            </a:pPr>
            <a:r>
              <a:rPr lang="en-US" sz="1500" b="1" dirty="0">
                <a:solidFill>
                  <a:srgbClr val="10B981"/>
                </a:solidFill>
                <a:latin typeface="Inter" pitchFamily="34" charset="0"/>
                <a:ea typeface="Inter" pitchFamily="34" charset="-122"/>
                <a:cs typeface="Inter" pitchFamily="34" charset="-120"/>
              </a:rPr>
              <a:t>ARTIFICIAL INTELLIGENCE &amp; MACHINE LEARNING</a:t>
            </a:r>
            <a:endParaRPr lang="en-US" sz="1500" dirty="0"/>
          </a:p>
        </p:txBody>
      </p:sp>
      <p:sp>
        <p:nvSpPr>
          <p:cNvPr id="7" name="Text 1"/>
          <p:cNvSpPr/>
          <p:nvPr/>
        </p:nvSpPr>
        <p:spPr>
          <a:xfrm>
            <a:off x="952852" y="2486025"/>
            <a:ext cx="8096250" cy="3019425"/>
          </a:xfrm>
          <a:prstGeom prst="rect">
            <a:avLst/>
          </a:prstGeom>
          <a:noFill/>
          <a:ln/>
        </p:spPr>
        <p:txBody>
          <a:bodyPr wrap="square" rtlCol="0" anchor="ctr"/>
          <a:lstStyle/>
          <a:p>
            <a:pPr algn="l" indent="0" marL="0">
              <a:lnSpc>
                <a:spcPct val="110000"/>
              </a:lnSpc>
              <a:buNone/>
            </a:pPr>
            <a:r>
              <a:rPr lang="en-US" sz="5400" b="1" dirty="0">
                <a:solidFill>
                  <a:srgbClr val="0F172A"/>
                </a:solidFill>
                <a:latin typeface="Inter" pitchFamily="34" charset="0"/>
                <a:ea typeface="Inter" pitchFamily="34" charset="-122"/>
                <a:cs typeface="Inter" pitchFamily="34" charset="-120"/>
              </a:rPr>
              <a:t>Iris Flower</a:t>
            </a:r>
            <a:endParaRPr lang="en-US" sz="5400" dirty="0"/>
          </a:p>
          <a:p>
            <a:pPr algn="l" indent="0" marL="0">
              <a:lnSpc>
                <a:spcPct val="110000"/>
              </a:lnSpc>
              <a:buNone/>
            </a:pPr>
            <a:r>
              <a:rPr lang="en-US" sz="5400" b="1" dirty="0">
                <a:solidFill>
                  <a:srgbClr val="0F172A"/>
                </a:solidFill>
                <a:latin typeface="Inter" pitchFamily="34" charset="0"/>
                <a:ea typeface="Inter" pitchFamily="34" charset="-122"/>
                <a:cs typeface="Inter" pitchFamily="34" charset="-120"/>
              </a:rPr>
              <a:t>Classification</a:t>
            </a:r>
            <a:endParaRPr lang="en-US" sz="5400" dirty="0"/>
          </a:p>
          <a:p>
            <a:pPr algn="l" indent="0" marL="0">
              <a:lnSpc>
                <a:spcPct val="110000"/>
              </a:lnSpc>
              <a:buNone/>
            </a:pPr>
            <a:r>
              <a:rPr lang="en-US" sz="5400" b="1" dirty="0">
                <a:solidFill>
                  <a:srgbClr val="2563EB"/>
                </a:solidFill>
                <a:latin typeface="Inter" pitchFamily="34" charset="0"/>
                <a:ea typeface="Inter" pitchFamily="34" charset="-122"/>
                <a:cs typeface="Inter" pitchFamily="34" charset="-120"/>
              </a:rPr>
              <a:t>Using Machine Learning</a:t>
            </a:r>
            <a:endParaRPr lang="en-US" sz="5400" dirty="0"/>
          </a:p>
        </p:txBody>
      </p:sp>
      <p:sp>
        <p:nvSpPr>
          <p:cNvPr id="8" name="Text 2"/>
          <p:cNvSpPr/>
          <p:nvPr/>
        </p:nvSpPr>
        <p:spPr>
          <a:xfrm>
            <a:off x="952852" y="7467600"/>
            <a:ext cx="6667500" cy="1285875"/>
          </a:xfrm>
          <a:prstGeom prst="rect">
            <a:avLst/>
          </a:prstGeom>
          <a:noFill/>
          <a:ln/>
        </p:spPr>
        <p:txBody>
          <a:bodyPr wrap="square" rtlCol="0" anchor="ctr"/>
          <a:lstStyle/>
          <a:p>
            <a:pPr algn="l" indent="0" marL="0">
              <a:lnSpc>
                <a:spcPct val="150000"/>
              </a:lnSpc>
              <a:buNone/>
            </a:pPr>
            <a:r>
              <a:rPr lang="en-US" sz="2250" b="1" dirty="0">
                <a:solidFill>
                  <a:srgbClr val="64748B"/>
                </a:solidFill>
                <a:latin typeface="Inter" pitchFamily="34" charset="0"/>
                <a:ea typeface="Inter" pitchFamily="34" charset="-122"/>
                <a:cs typeface="Inter" pitchFamily="34" charset="-120"/>
              </a:rPr>
              <a:t>INTERNSHIP PROJECT</a:t>
            </a:r>
            <a:endParaRPr lang="en-US" sz="2250" dirty="0"/>
          </a:p>
          <a:p>
            <a:pPr algn="l" indent="0" marL="0">
              <a:lnSpc>
                <a:spcPct val="150000"/>
              </a:lnSpc>
              <a:buNone/>
            </a:pPr>
            <a:r>
              <a:rPr lang="en-US" sz="2250" dirty="0">
                <a:solidFill>
                  <a:srgbClr val="475569"/>
                </a:solidFill>
                <a:latin typeface="Inter" pitchFamily="34" charset="0"/>
                <a:ea typeface="Inter" pitchFamily="34" charset="-122"/>
                <a:cs typeface="Inter" pitchFamily="34" charset="-120"/>
              </a:rPr>
              <a:t>Prepared By: </a:t>
            </a:r>
            <a:endParaRPr lang="en-US" sz="2250" dirty="0"/>
          </a:p>
          <a:p>
            <a:pPr algn="l" indent="0" marL="0">
              <a:lnSpc>
                <a:spcPct val="150000"/>
              </a:lnSpc>
              <a:buNone/>
            </a:pPr>
            <a:r>
              <a:rPr lang="en-US" sz="2250" b="1" dirty="0">
                <a:solidFill>
                  <a:srgbClr val="0F172A"/>
                </a:solidFill>
                <a:latin typeface="Inter" pitchFamily="34" charset="0"/>
                <a:ea typeface="Inter" pitchFamily="34" charset="-122"/>
                <a:cs typeface="Inter" pitchFamily="34" charset="-120"/>
              </a:rPr>
              <a:t>Kousika Sabarisha</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Introduction</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pic>
        <p:nvPicPr>
          <p:cNvPr id="4" name="Image 1" descr="preencoded.png">    </p:cNvPr>
          <p:cNvPicPr>
            <a:picLocks noChangeAspect="1"/>
          </p:cNvPicPr>
          <p:nvPr/>
        </p:nvPicPr>
        <p:blipFill>
          <a:blip r:embed="rId2"/>
          <a:stretch>
            <a:fillRect/>
          </a:stretch>
        </p:blipFill>
        <p:spPr>
          <a:xfrm>
            <a:off x="952500" y="2286000"/>
            <a:ext cx="7810500" cy="6667500"/>
          </a:xfrm>
          <a:prstGeom prst="rect">
            <a:avLst/>
          </a:prstGeom>
        </p:spPr>
      </p:pic>
      <p:sp>
        <p:nvSpPr>
          <p:cNvPr id="5" name="Text 1"/>
          <p:cNvSpPr/>
          <p:nvPr/>
        </p:nvSpPr>
        <p:spPr>
          <a:xfrm>
            <a:off x="1428750" y="2857500"/>
            <a:ext cx="6858000" cy="4114800"/>
          </a:xfrm>
          <a:prstGeom prst="rect">
            <a:avLst/>
          </a:prstGeom>
          <a:noFill/>
          <a:ln/>
        </p:spPr>
        <p:txBody>
          <a:bodyPr wrap="square" rtlCol="0" anchor="ctr"/>
          <a:lstStyle/>
          <a:p>
            <a:pPr algn="l" indent="0" marL="0">
              <a:lnSpc>
                <a:spcPct val="160000"/>
              </a:lnSpc>
              <a:buNone/>
            </a:pPr>
            <a:r>
              <a:rPr lang="en-US" sz="2025" b="1" dirty="0">
                <a:solidFill>
                  <a:srgbClr val="2563EB"/>
                </a:solidFill>
                <a:latin typeface="Inter" pitchFamily="34" charset="0"/>
                <a:ea typeface="Inter" pitchFamily="34" charset="-122"/>
                <a:cs typeface="Inter" pitchFamily="34" charset="-120"/>
              </a:rPr>
              <a:t>WHAT IS MACHINE LEARNING?</a:t>
            </a:r>
            <a:endParaRPr lang="en-US" sz="2025" dirty="0"/>
          </a:p>
          <a:p>
            <a:pPr algn="l" indent="0" marL="0">
              <a:lnSpc>
                <a:spcPct val="160000"/>
              </a:lnSpc>
              <a:buNone/>
            </a:pPr>
            <a:r>
              <a:rPr lang="en-US" sz="2025" dirty="0">
                <a:solidFill>
                  <a:srgbClr val="334155"/>
                </a:solidFill>
                <a:latin typeface="Inter" pitchFamily="34" charset="0"/>
                <a:ea typeface="Inter" pitchFamily="34" charset="-122"/>
                <a:cs typeface="Inter" pitchFamily="34" charset="-120"/>
              </a:rPr>
              <a:t>Machine Learning (ML) is a subfield of artificial intelligence focused on building systems that learn from, and make decisions based on, data. </a:t>
            </a:r>
            <a:endParaRPr lang="en-US" sz="2025" dirty="0"/>
          </a:p>
          <a:p>
            <a:pPr algn="l" indent="0" marL="0">
              <a:lnSpc>
                <a:spcPct val="160000"/>
              </a:lnSpc>
              <a:buNone/>
            </a:pPr>
            <a:r>
              <a:rPr lang="en-US" sz="2025" dirty="0">
                <a:solidFill>
                  <a:srgbClr val="334155"/>
                </a:solidFill>
                <a:latin typeface="Inter" pitchFamily="34" charset="0"/>
                <a:ea typeface="Inter" pitchFamily="34" charset="-122"/>
                <a:cs typeface="Inter" pitchFamily="34" charset="-120"/>
              </a:rPr>
              <a:t>Rather than executing rigidly static program instructions, ML algorithms build mathematical models to make predictions or decisions without being explicitly programmed.</a:t>
            </a:r>
            <a:endParaRPr lang="en-US" sz="2025" dirty="0"/>
          </a:p>
          <a:p>
            <a:pPr algn="l" indent="0" marL="0">
              <a:lnSpc>
                <a:spcPct val="160000"/>
              </a:lnSpc>
              <a:buNone/>
            </a:pPr>
            <a:r>
              <a:rPr lang="en-US" sz="2025" dirty="0">
                <a:solidFill>
                  <a:srgbClr val="334155"/>
                </a:solidFill>
                <a:latin typeface="Inter" pitchFamily="34" charset="0"/>
                <a:ea typeface="Inter" pitchFamily="34" charset="-122"/>
                <a:cs typeface="Inter" pitchFamily="34" charset="-120"/>
              </a:rPr>
              <a:t>It forms the backbone of modern automation, predictive analytics, and natural language processing solutions.</a:t>
            </a:r>
            <a:endParaRPr lang="en-US" sz="2025" dirty="0"/>
          </a:p>
        </p:txBody>
      </p:sp>
      <p:pic>
        <p:nvPicPr>
          <p:cNvPr id="6" name="Image 2" descr="preencoded.png">    </p:cNvPr>
          <p:cNvPicPr>
            <a:picLocks noChangeAspect="1"/>
          </p:cNvPicPr>
          <p:nvPr/>
        </p:nvPicPr>
        <p:blipFill>
          <a:blip r:embed="rId3"/>
          <a:stretch>
            <a:fillRect/>
          </a:stretch>
        </p:blipFill>
        <p:spPr>
          <a:xfrm>
            <a:off x="9144000" y="2286000"/>
            <a:ext cx="8191500" cy="6667500"/>
          </a:xfrm>
          <a:prstGeom prst="rect">
            <a:avLst/>
          </a:prstGeom>
        </p:spPr>
      </p:pic>
      <p:sp>
        <p:nvSpPr>
          <p:cNvPr id="7" name="Text 2"/>
          <p:cNvSpPr/>
          <p:nvPr/>
        </p:nvSpPr>
        <p:spPr>
          <a:xfrm>
            <a:off x="9620250" y="2857500"/>
            <a:ext cx="7239000" cy="4191000"/>
          </a:xfrm>
          <a:prstGeom prst="rect">
            <a:avLst/>
          </a:prstGeom>
          <a:noFill/>
          <a:ln/>
        </p:spPr>
        <p:txBody>
          <a:bodyPr wrap="square" rtlCol="0" anchor="ctr"/>
          <a:lstStyle/>
          <a:p>
            <a:pPr algn="l" indent="0" marL="0">
              <a:lnSpc>
                <a:spcPct val="160000"/>
              </a:lnSpc>
              <a:buNone/>
            </a:pPr>
            <a:r>
              <a:rPr lang="en-US" sz="1875" b="1" dirty="0">
                <a:solidFill>
                  <a:srgbClr val="059669"/>
                </a:solidFill>
                <a:latin typeface="Inter" pitchFamily="34" charset="0"/>
                <a:ea typeface="Inter" pitchFamily="34" charset="-122"/>
                <a:cs typeface="Inter" pitchFamily="34" charset="-120"/>
              </a:rPr>
              <a:t>WHAT IS CLASSIFICATION?</a:t>
            </a:r>
            <a:endParaRPr lang="en-US" sz="1875" dirty="0"/>
          </a:p>
          <a:p>
            <a:pPr algn="l" indent="0" marL="0">
              <a:lnSpc>
                <a:spcPct val="160000"/>
              </a:lnSpc>
              <a:buNone/>
            </a:pPr>
            <a:r>
              <a:rPr lang="en-US" sz="1875" dirty="0">
                <a:solidFill>
                  <a:srgbClr val="1E293B"/>
                </a:solidFill>
                <a:latin typeface="Inter" pitchFamily="34" charset="0"/>
                <a:ea typeface="Inter" pitchFamily="34" charset="-122"/>
                <a:cs typeface="Inter" pitchFamily="34" charset="-120"/>
              </a:rPr>
              <a:t>Classification is a supervised learning approach where the computer program learns from the input data provided to it and then uses this learning to classify new observations into distinct classes or groups.</a:t>
            </a:r>
            <a:endParaRPr lang="en-US" sz="1875" dirty="0"/>
          </a:p>
          <a:p>
            <a:pPr algn="l" indent="0" marL="0">
              <a:lnSpc>
                <a:spcPct val="160000"/>
              </a:lnSpc>
              <a:buNone/>
            </a:pPr>
            <a:r>
              <a:rPr lang="en-US" sz="1875" b="1" dirty="0">
                <a:solidFill>
                  <a:srgbClr val="059669"/>
                </a:solidFill>
                <a:latin typeface="Inter" pitchFamily="34" charset="0"/>
                <a:ea typeface="Inter" pitchFamily="34" charset="-122"/>
                <a:cs typeface="Inter" pitchFamily="34" charset="-120"/>
              </a:rPr>
              <a:t>THE IMPORTANCE OF THE IRIS BENCHMARK</a:t>
            </a:r>
            <a:endParaRPr lang="en-US" sz="1875" dirty="0"/>
          </a:p>
          <a:p>
            <a:pPr algn="l" indent="0" marL="0">
              <a:lnSpc>
                <a:spcPct val="160000"/>
              </a:lnSpc>
              <a:buNone/>
            </a:pPr>
            <a:r>
              <a:rPr lang="en-US" sz="1875" dirty="0">
                <a:solidFill>
                  <a:srgbClr val="1E293B"/>
                </a:solidFill>
                <a:latin typeface="Inter" pitchFamily="34" charset="0"/>
                <a:ea typeface="Inter" pitchFamily="34" charset="-122"/>
                <a:cs typeface="Inter" pitchFamily="34" charset="-120"/>
              </a:rPr>
              <a:t>Introduced by statistician Ronald Fisher in 1936, the Iris Flower Dataset is the most famous dataset in pattern recognition literature. It serves as an elegant, clean, and highly effective benchmark to demonstrate the practical application and mechanics of multi-class predictive classification models.</a:t>
            </a:r>
            <a:endParaRPr lang="en-US" sz="18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Project Objective</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2500" y="2476500"/>
            <a:ext cx="7429500" cy="5667375"/>
          </a:xfrm>
          <a:prstGeom prst="rect">
            <a:avLst/>
          </a:prstGeom>
          <a:noFill/>
          <a:ln/>
        </p:spPr>
        <p:txBody>
          <a:bodyPr wrap="square" rtlCol="0" anchor="ctr"/>
          <a:lstStyle/>
          <a:p>
            <a:pPr algn="l" indent="0" marL="0">
              <a:lnSpc>
                <a:spcPct val="170000"/>
              </a:lnSpc>
              <a:buNone/>
            </a:pPr>
            <a:r>
              <a:rPr lang="en-US" sz="1875" b="1" dirty="0">
                <a:solidFill>
                  <a:srgbClr val="2563EB"/>
                </a:solidFill>
                <a:latin typeface="Inter" pitchFamily="34" charset="0"/>
                <a:ea typeface="Inter" pitchFamily="34" charset="-122"/>
                <a:cs typeface="Inter" pitchFamily="34" charset="-120"/>
              </a:rPr>
              <a:t>CORE TARGETS</a:t>
            </a:r>
            <a:endParaRPr lang="en-US" sz="1875" dirty="0"/>
          </a:p>
          <a:p>
            <a:pPr algn="l" indent="0" marL="0">
              <a:lnSpc>
                <a:spcPct val="170000"/>
              </a:lnSpc>
              <a:buNone/>
            </a:pPr>
            <a:r>
              <a:rPr lang="en-US" sz="1875" b="1" dirty="0">
                <a:solidFill>
                  <a:srgbClr val="0F172A"/>
                </a:solidFill>
                <a:latin typeface="Inter" pitchFamily="34" charset="0"/>
                <a:ea typeface="Inter" pitchFamily="34" charset="-122"/>
                <a:cs typeface="Inter" pitchFamily="34" charset="-120"/>
              </a:rPr>
              <a:t>Classifying botanical diversity through high-precision computational models.</a:t>
            </a:r>
            <a:endParaRPr lang="en-US" sz="1875" dirty="0"/>
          </a:p>
          <a:p>
            <a:pPr algn="l" marL="342900" indent="-342900">
              <a:lnSpc>
                <a:spcPct val="170000"/>
              </a:lnSpc>
              <a:buSzPct val="100000"/>
              <a:buChar char="•"/>
            </a:pPr>
            <a:r>
              <a:rPr lang="en-US" sz="1875" b="1" dirty="0">
                <a:solidFill>
                  <a:srgbClr val="0F172A"/>
                </a:solidFill>
                <a:latin typeface="Inter" pitchFamily="34" charset="0"/>
                <a:ea typeface="Inter" pitchFamily="34" charset="-122"/>
                <a:cs typeface="Inter" pitchFamily="34" charset="-120"/>
              </a:rPr>
              <a:t>Species Prediction</a:t>
            </a:r>
            <a:endParaRPr lang="en-US" sz="1875" dirty="0"/>
          </a:p>
          <a:p>
            <a:pPr algn="l" indent="0" marL="0">
              <a:lnSpc>
                <a:spcPct val="170000"/>
              </a:lnSpc>
              <a:buNone/>
            </a:pPr>
            <a:r>
              <a:rPr lang="en-US" sz="1875" dirty="0">
                <a:solidFill>
                  <a:srgbClr val="475569"/>
                </a:solidFill>
                <a:latin typeface="Inter" pitchFamily="34" charset="0"/>
                <a:ea typeface="Inter" pitchFamily="34" charset="-122"/>
                <a:cs typeface="Inter" pitchFamily="34" charset="-120"/>
              </a:rPr>
              <a:t>Build an intelligent model to accurately partition and classify Iris flowers into three distinct species: Setosa, Versicolor, and Virginica.</a:t>
            </a:r>
            <a:endParaRPr lang="en-US" sz="1875" dirty="0"/>
          </a:p>
          <a:p>
            <a:pPr algn="l" marL="342900" indent="-342900">
              <a:lnSpc>
                <a:spcPct val="170000"/>
              </a:lnSpc>
              <a:buSzPct val="100000"/>
              <a:buChar char="•"/>
            </a:pPr>
            <a:r>
              <a:rPr lang="en-US" sz="1875" b="1" dirty="0">
                <a:solidFill>
                  <a:srgbClr val="0F172A"/>
                </a:solidFill>
                <a:latin typeface="Inter" pitchFamily="34" charset="0"/>
                <a:ea typeface="Inter" pitchFamily="34" charset="-122"/>
                <a:cs typeface="Inter" pitchFamily="34" charset="-120"/>
              </a:rPr>
              <a:t>Pattern Identification</a:t>
            </a:r>
            <a:endParaRPr lang="en-US" sz="1875" dirty="0"/>
          </a:p>
          <a:p>
            <a:pPr algn="l" indent="0" marL="0">
              <a:lnSpc>
                <a:spcPct val="170000"/>
              </a:lnSpc>
              <a:buNone/>
            </a:pPr>
            <a:r>
              <a:rPr lang="en-US" sz="1875" dirty="0">
                <a:solidFill>
                  <a:srgbClr val="475569"/>
                </a:solidFill>
                <a:latin typeface="Inter" pitchFamily="34" charset="0"/>
                <a:ea typeface="Inter" pitchFamily="34" charset="-122"/>
                <a:cs typeface="Inter" pitchFamily="34" charset="-120"/>
              </a:rPr>
              <a:t>Analyze detailed flower measurements (sepal &amp; petal length and width) to map complex non-linear spatial boundaries between clusters.</a:t>
            </a:r>
            <a:endParaRPr lang="en-US" sz="1875" dirty="0"/>
          </a:p>
          <a:p>
            <a:pPr algn="l" marL="342900" indent="-342900">
              <a:lnSpc>
                <a:spcPct val="170000"/>
              </a:lnSpc>
              <a:buSzPct val="100000"/>
              <a:buChar char="•"/>
            </a:pPr>
            <a:r>
              <a:rPr lang="en-US" sz="1875" b="1" dirty="0">
                <a:solidFill>
                  <a:srgbClr val="0F172A"/>
                </a:solidFill>
                <a:latin typeface="Inter" pitchFamily="34" charset="0"/>
                <a:ea typeface="Inter" pitchFamily="34" charset="-122"/>
                <a:cs typeface="Inter" pitchFamily="34" charset="-120"/>
              </a:rPr>
              <a:t>Algorithmic Validation</a:t>
            </a:r>
            <a:endParaRPr lang="en-US" sz="1875" dirty="0"/>
          </a:p>
          <a:p>
            <a:pPr algn="l" indent="0" marL="0">
              <a:lnSpc>
                <a:spcPct val="170000"/>
              </a:lnSpc>
              <a:buNone/>
            </a:pPr>
            <a:r>
              <a:rPr lang="en-US" sz="1875" dirty="0">
                <a:solidFill>
                  <a:srgbClr val="475569"/>
                </a:solidFill>
                <a:latin typeface="Inter" pitchFamily="34" charset="0"/>
                <a:ea typeface="Inter" pitchFamily="34" charset="-122"/>
                <a:cs typeface="Inter" pitchFamily="34" charset="-120"/>
              </a:rPr>
              <a:t>Demonstrate how structural flower profiles can be parsed by machine learning algorithms to automate biological identification.</a:t>
            </a:r>
            <a:endParaRPr lang="en-US" sz="1875" dirty="0"/>
          </a:p>
        </p:txBody>
      </p:sp>
      <p:pic>
        <p:nvPicPr>
          <p:cNvPr id="5" name="Image 1" descr="preencoded.png">    </p:cNvPr>
          <p:cNvPicPr>
            <a:picLocks noChangeAspect="1"/>
          </p:cNvPicPr>
          <p:nvPr/>
        </p:nvPicPr>
        <p:blipFill>
          <a:blip r:embed="rId2"/>
          <a:stretch>
            <a:fillRect/>
          </a:stretch>
        </p:blipFill>
        <p:spPr>
          <a:xfrm>
            <a:off x="9149267" y="1352902"/>
            <a:ext cx="8191500" cy="7429500"/>
          </a:xfrm>
          <a:prstGeom prst="rect">
            <a:avLst/>
          </a:prstGeom>
        </p:spPr>
      </p:pic>
      <p:pic>
        <p:nvPicPr>
          <p:cNvPr id="6" name="Image 2" descr="preencoded.png">    </p:cNvPr>
          <p:cNvPicPr>
            <a:picLocks noChangeAspect="1"/>
          </p:cNvPicPr>
          <p:nvPr/>
        </p:nvPicPr>
        <p:blipFill>
          <a:blip r:embed="rId3"/>
          <a:stretch>
            <a:fillRect/>
          </a:stretch>
        </p:blipFill>
        <p:spPr>
          <a:xfrm>
            <a:off x="9715500" y="2476500"/>
            <a:ext cx="7048500" cy="1047750"/>
          </a:xfrm>
          <a:prstGeom prst="rect">
            <a:avLst/>
          </a:prstGeom>
        </p:spPr>
      </p:pic>
      <p:sp>
        <p:nvSpPr>
          <p:cNvPr id="7" name="Text 2"/>
          <p:cNvSpPr/>
          <p:nvPr/>
        </p:nvSpPr>
        <p:spPr>
          <a:xfrm>
            <a:off x="10001250" y="2714625"/>
            <a:ext cx="6477000" cy="542925"/>
          </a:xfrm>
          <a:prstGeom prst="rect">
            <a:avLst/>
          </a:prstGeom>
          <a:noFill/>
          <a:ln/>
        </p:spPr>
        <p:txBody>
          <a:bodyPr wrap="square" rtlCol="0" anchor="ctr"/>
          <a:lstStyle/>
          <a:p>
            <a:pPr algn="l" indent="0" marL="0">
              <a:lnSpc>
                <a:spcPct val="130000"/>
              </a:lnSpc>
              <a:buNone/>
            </a:pPr>
            <a:r>
              <a:rPr lang="en-US" sz="1650" b="1" dirty="0">
                <a:solidFill>
                  <a:srgbClr val="64748B"/>
                </a:solidFill>
                <a:latin typeface="Inter" pitchFamily="34" charset="0"/>
                <a:ea typeface="Inter" pitchFamily="34" charset="-122"/>
                <a:cs typeface="Inter" pitchFamily="34" charset="-120"/>
              </a:rPr>
              <a:t>INPUT DATA</a:t>
            </a:r>
            <a:endParaRPr lang="en-US" sz="1650" dirty="0"/>
          </a:p>
          <a:p>
            <a:pPr algn="l" indent="0" marL="0">
              <a:lnSpc>
                <a:spcPct val="130000"/>
              </a:lnSpc>
              <a:buNone/>
            </a:pPr>
            <a:r>
              <a:rPr lang="en-US" sz="1650" b="1" dirty="0">
                <a:solidFill>
                  <a:srgbClr val="0F172A"/>
                </a:solidFill>
                <a:latin typeface="Inter" pitchFamily="34" charset="0"/>
                <a:ea typeface="Inter" pitchFamily="34" charset="-122"/>
                <a:cs typeface="Inter" pitchFamily="34" charset="-120"/>
              </a:rPr>
              <a:t>Morphological Measurements (Sepal &amp; Petal Dimensions)</a:t>
            </a:r>
            <a:endParaRPr lang="en-US" sz="1650" dirty="0"/>
          </a:p>
        </p:txBody>
      </p:sp>
      <p:pic>
        <p:nvPicPr>
          <p:cNvPr id="8" name="Image 3" descr="preencoded.png">    </p:cNvPr>
          <p:cNvPicPr>
            <a:picLocks noChangeAspect="1"/>
          </p:cNvPicPr>
          <p:nvPr/>
        </p:nvPicPr>
        <p:blipFill>
          <a:blip r:embed="rId4"/>
          <a:stretch>
            <a:fillRect/>
          </a:stretch>
        </p:blipFill>
        <p:spPr>
          <a:xfrm>
            <a:off x="9715500" y="4286250"/>
            <a:ext cx="7048500" cy="1047750"/>
          </a:xfrm>
          <a:prstGeom prst="rect">
            <a:avLst/>
          </a:prstGeom>
        </p:spPr>
      </p:pic>
      <p:sp>
        <p:nvSpPr>
          <p:cNvPr id="9" name="Text 3"/>
          <p:cNvSpPr/>
          <p:nvPr/>
        </p:nvSpPr>
        <p:spPr>
          <a:xfrm>
            <a:off x="10001250" y="4524375"/>
            <a:ext cx="6477000" cy="542925"/>
          </a:xfrm>
          <a:prstGeom prst="rect">
            <a:avLst/>
          </a:prstGeom>
          <a:noFill/>
          <a:ln/>
        </p:spPr>
        <p:txBody>
          <a:bodyPr wrap="square" rtlCol="0" anchor="ctr"/>
          <a:lstStyle/>
          <a:p>
            <a:pPr algn="l" indent="0" marL="0">
              <a:lnSpc>
                <a:spcPct val="130000"/>
              </a:lnSpc>
              <a:buNone/>
            </a:pPr>
            <a:r>
              <a:rPr lang="en-US" sz="1650" b="1" dirty="0">
                <a:solidFill>
                  <a:srgbClr val="2563EB"/>
                </a:solidFill>
                <a:latin typeface="Inter" pitchFamily="34" charset="0"/>
                <a:ea typeface="Inter" pitchFamily="34" charset="-122"/>
                <a:cs typeface="Inter" pitchFamily="34" charset="-120"/>
              </a:rPr>
              <a:t>CLASSIFICATION ENGINE</a:t>
            </a:r>
            <a:endParaRPr lang="en-US" sz="1650" dirty="0"/>
          </a:p>
          <a:p>
            <a:pPr algn="l" indent="0" marL="0">
              <a:lnSpc>
                <a:spcPct val="130000"/>
              </a:lnSpc>
              <a:buNone/>
            </a:pPr>
            <a:r>
              <a:rPr lang="en-US" sz="1650" b="1" dirty="0">
                <a:solidFill>
                  <a:srgbClr val="1E3A8A"/>
                </a:solidFill>
                <a:latin typeface="Inter" pitchFamily="34" charset="0"/>
                <a:ea typeface="Inter" pitchFamily="34" charset="-122"/>
                <a:cs typeface="Inter" pitchFamily="34" charset="-120"/>
              </a:rPr>
              <a:t>K-Nearest Neighbors Algorithm (Distance &amp; Density Voting)</a:t>
            </a:r>
            <a:endParaRPr lang="en-US" sz="1650" dirty="0"/>
          </a:p>
        </p:txBody>
      </p:sp>
      <p:pic>
        <p:nvPicPr>
          <p:cNvPr id="10" name="Image 4" descr="preencoded.png">    </p:cNvPr>
          <p:cNvPicPr>
            <a:picLocks noChangeAspect="1"/>
          </p:cNvPicPr>
          <p:nvPr/>
        </p:nvPicPr>
        <p:blipFill>
          <a:blip r:embed="rId5"/>
          <a:stretch>
            <a:fillRect/>
          </a:stretch>
        </p:blipFill>
        <p:spPr>
          <a:xfrm>
            <a:off x="9715500" y="6096000"/>
            <a:ext cx="7048500" cy="1047750"/>
          </a:xfrm>
          <a:prstGeom prst="rect">
            <a:avLst/>
          </a:prstGeom>
        </p:spPr>
      </p:pic>
      <p:sp>
        <p:nvSpPr>
          <p:cNvPr id="11" name="Text 4"/>
          <p:cNvSpPr/>
          <p:nvPr/>
        </p:nvSpPr>
        <p:spPr>
          <a:xfrm>
            <a:off x="10001250" y="6334125"/>
            <a:ext cx="6477000" cy="542925"/>
          </a:xfrm>
          <a:prstGeom prst="rect">
            <a:avLst/>
          </a:prstGeom>
          <a:noFill/>
          <a:ln/>
        </p:spPr>
        <p:txBody>
          <a:bodyPr wrap="square" rtlCol="0" anchor="ctr"/>
          <a:lstStyle/>
          <a:p>
            <a:pPr algn="l" indent="0" marL="0">
              <a:lnSpc>
                <a:spcPct val="130000"/>
              </a:lnSpc>
              <a:buNone/>
            </a:pPr>
            <a:r>
              <a:rPr lang="en-US" sz="1650" b="1" dirty="0">
                <a:solidFill>
                  <a:srgbClr val="059669"/>
                </a:solidFill>
                <a:latin typeface="Inter" pitchFamily="34" charset="0"/>
                <a:ea typeface="Inter" pitchFamily="34" charset="-122"/>
                <a:cs typeface="Inter" pitchFamily="34" charset="-120"/>
              </a:rPr>
              <a:t>CLASSIFIED SPECIES</a:t>
            </a:r>
            <a:endParaRPr lang="en-US" sz="1650" dirty="0"/>
          </a:p>
          <a:p>
            <a:pPr algn="l" indent="0" marL="0">
              <a:lnSpc>
                <a:spcPct val="130000"/>
              </a:lnSpc>
              <a:buNone/>
            </a:pPr>
            <a:r>
              <a:rPr lang="en-US" sz="1650" b="1" dirty="0">
                <a:solidFill>
                  <a:srgbClr val="065F46"/>
                </a:solidFill>
                <a:latin typeface="Inter" pitchFamily="34" charset="0"/>
                <a:ea typeface="Inter" pitchFamily="34" charset="-122"/>
                <a:cs typeface="Inter" pitchFamily="34" charset="-120"/>
              </a:rPr>
              <a:t>Predicted Species Output (Setosa / Versicolor / Virginica)</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Dataset Description</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pic>
        <p:nvPicPr>
          <p:cNvPr id="4" name="Image 1" descr="preencoded.png">    </p:cNvPr>
          <p:cNvPicPr>
            <a:picLocks noChangeAspect="1"/>
          </p:cNvPicPr>
          <p:nvPr/>
        </p:nvPicPr>
        <p:blipFill>
          <a:blip r:embed="rId2"/>
          <a:stretch>
            <a:fillRect/>
          </a:stretch>
        </p:blipFill>
        <p:spPr>
          <a:xfrm>
            <a:off x="952500" y="2286000"/>
            <a:ext cx="7620000" cy="7048500"/>
          </a:xfrm>
          <a:prstGeom prst="rect">
            <a:avLst/>
          </a:prstGeom>
        </p:spPr>
      </p:pic>
      <p:sp>
        <p:nvSpPr>
          <p:cNvPr id="5" name="Text 1"/>
          <p:cNvSpPr/>
          <p:nvPr/>
        </p:nvSpPr>
        <p:spPr>
          <a:xfrm>
            <a:off x="1452448" y="2379755"/>
            <a:ext cx="6667500" cy="5238750"/>
          </a:xfrm>
          <a:prstGeom prst="rect">
            <a:avLst/>
          </a:prstGeom>
          <a:noFill/>
          <a:ln/>
        </p:spPr>
        <p:txBody>
          <a:bodyPr wrap="square" rtlCol="0" anchor="ctr"/>
          <a:lstStyle/>
          <a:p>
            <a:pPr algn="l" indent="0" marL="0">
              <a:lnSpc>
                <a:spcPct val="100000"/>
              </a:lnSpc>
              <a:buNone/>
            </a:pPr>
            <a:r>
              <a:rPr lang="en-US" sz="8250" b="1" dirty="0">
                <a:solidFill>
                  <a:srgbClr val="2563EB"/>
                </a:solidFill>
                <a:latin typeface="Playfair Display" pitchFamily="34" charset="0"/>
                <a:ea typeface="Playfair Display" pitchFamily="34" charset="-122"/>
                <a:cs typeface="Playfair Display" pitchFamily="34" charset="-120"/>
              </a:rPr>
              <a:t>150</a:t>
            </a:r>
            <a:endParaRPr lang="en-US" sz="8250" dirty="0"/>
          </a:p>
          <a:p>
            <a:pPr algn="l" indent="0" marL="0">
              <a:lnSpc>
                <a:spcPct val="100000"/>
              </a:lnSpc>
              <a:buNone/>
            </a:pPr>
            <a:r>
              <a:rPr lang="en-US" sz="8250" b="1" dirty="0">
                <a:solidFill>
                  <a:srgbClr val="64748B"/>
                </a:solidFill>
                <a:latin typeface="Playfair Display" pitchFamily="34" charset="0"/>
                <a:ea typeface="Playfair Display" pitchFamily="34" charset="-122"/>
                <a:cs typeface="Playfair Display" pitchFamily="34" charset="-120"/>
              </a:rPr>
              <a:t>TOTAL DATASET SAMPLE INSTANCES</a:t>
            </a:r>
            <a:endParaRPr lang="en-US" sz="8250" dirty="0"/>
          </a:p>
        </p:txBody>
      </p:sp>
      <p:sp>
        <p:nvSpPr>
          <p:cNvPr id="6" name="Text 2"/>
          <p:cNvSpPr/>
          <p:nvPr/>
        </p:nvSpPr>
        <p:spPr>
          <a:xfrm>
            <a:off x="1453067" y="7932306"/>
            <a:ext cx="6667500" cy="666750"/>
          </a:xfrm>
          <a:prstGeom prst="rect">
            <a:avLst/>
          </a:prstGeom>
          <a:noFill/>
          <a:ln/>
        </p:spPr>
        <p:txBody>
          <a:bodyPr wrap="square" rtlCol="0" anchor="ctr"/>
          <a:lstStyle/>
          <a:p>
            <a:pPr algn="l" indent="0" marL="0">
              <a:lnSpc>
                <a:spcPct val="160000"/>
              </a:lnSpc>
              <a:buNone/>
            </a:pPr>
            <a:r>
              <a:rPr lang="en-US" sz="1650" b="1" dirty="0">
                <a:solidFill>
                  <a:srgbClr val="64748B"/>
                </a:solidFill>
                <a:latin typeface="Inter" pitchFamily="34" charset="0"/>
                <a:ea typeface="Inter" pitchFamily="34" charset="-122"/>
                <a:cs typeface="Inter" pitchFamily="34" charset="-120"/>
              </a:rPr>
              <a:t>TARGET SPECIES CLASSES (50 SAMPLES EACH)</a:t>
            </a:r>
            <a:endParaRPr lang="en-US" sz="1650" dirty="0"/>
          </a:p>
          <a:p>
            <a:pPr algn="l" marL="342900" indent="-342900">
              <a:lnSpc>
                <a:spcPct val="160000"/>
              </a:lnSpc>
              <a:buSzPct val="100000"/>
              <a:buChar char="•"/>
            </a:pPr>
            <a:r>
              <a:rPr lang="en-US" sz="1650" b="1" dirty="0">
                <a:solidFill>
                  <a:srgbClr val="0F172A"/>
                </a:solidFill>
                <a:latin typeface="Inter" pitchFamily="34" charset="0"/>
                <a:ea typeface="Inter" pitchFamily="34" charset="-122"/>
                <a:cs typeface="Inter" pitchFamily="34" charset="-120"/>
              </a:rPr>
              <a:t>Iris Setosa       • Iris Versicolor       • Iris Virginica</a:t>
            </a:r>
            <a:endParaRPr lang="en-US" sz="1650" dirty="0"/>
          </a:p>
        </p:txBody>
      </p:sp>
      <p:pic>
        <p:nvPicPr>
          <p:cNvPr id="7" name="Image 2" descr="preencoded.png">    </p:cNvPr>
          <p:cNvPicPr>
            <a:picLocks noChangeAspect="1"/>
          </p:cNvPicPr>
          <p:nvPr/>
        </p:nvPicPr>
        <p:blipFill>
          <a:blip r:embed="rId3"/>
          <a:stretch>
            <a:fillRect/>
          </a:stretch>
        </p:blipFill>
        <p:spPr>
          <a:xfrm>
            <a:off x="13176980" y="3055458"/>
            <a:ext cx="3143250" cy="1238250"/>
          </a:xfrm>
          <a:prstGeom prst="rect">
            <a:avLst/>
          </a:prstGeom>
        </p:spPr>
      </p:pic>
      <p:pic>
        <p:nvPicPr>
          <p:cNvPr id="8" name="Image 3" descr="preencoded.png">    </p:cNvPr>
          <p:cNvPicPr>
            <a:picLocks noChangeAspect="1"/>
          </p:cNvPicPr>
          <p:nvPr/>
        </p:nvPicPr>
        <p:blipFill>
          <a:blip r:embed="rId4"/>
          <a:stretch>
            <a:fillRect/>
          </a:stretch>
        </p:blipFill>
        <p:spPr>
          <a:xfrm>
            <a:off x="9144000" y="2380107"/>
            <a:ext cx="8191500" cy="7048500"/>
          </a:xfrm>
          <a:prstGeom prst="rect">
            <a:avLst/>
          </a:prstGeom>
        </p:spPr>
      </p:pic>
      <p:sp>
        <p:nvSpPr>
          <p:cNvPr id="9" name="Text 3"/>
          <p:cNvSpPr/>
          <p:nvPr/>
        </p:nvSpPr>
        <p:spPr>
          <a:xfrm>
            <a:off x="13818299" y="6053461"/>
            <a:ext cx="2667000" cy="857250"/>
          </a:xfrm>
          <a:prstGeom prst="rect">
            <a:avLst/>
          </a:prstGeom>
          <a:noFill/>
          <a:ln/>
        </p:spPr>
        <p:txBody>
          <a:bodyPr wrap="square" rtlCol="0" anchor="ctr"/>
          <a:lstStyle/>
          <a:p>
            <a:pPr algn="l" indent="0" marL="0">
              <a:lnSpc>
                <a:spcPct val="130000"/>
              </a:lnSpc>
              <a:buNone/>
            </a:pPr>
            <a:r>
              <a:rPr lang="en-US" sz="1725" b="1" dirty="0">
                <a:solidFill>
                  <a:srgbClr val="2563EB"/>
                </a:solidFill>
                <a:latin typeface="Inter" pitchFamily="34" charset="0"/>
                <a:ea typeface="Inter" pitchFamily="34" charset="-122"/>
                <a:cs typeface="Inter" pitchFamily="34" charset="-120"/>
              </a:rPr>
              <a:t>SEPAL FEATURES</a:t>
            </a:r>
            <a:endParaRPr lang="en-US" sz="1725" dirty="0"/>
          </a:p>
          <a:p>
            <a:pPr algn="l" indent="0" marL="0">
              <a:lnSpc>
                <a:spcPct val="130000"/>
              </a:lnSpc>
              <a:buNone/>
            </a:pPr>
            <a:r>
              <a:rPr lang="en-US" sz="1725" b="1" dirty="0">
                <a:solidFill>
                  <a:srgbClr val="0F172A"/>
                </a:solidFill>
                <a:latin typeface="Inter" pitchFamily="34" charset="0"/>
                <a:ea typeface="Inter" pitchFamily="34" charset="-122"/>
                <a:cs typeface="Inter" pitchFamily="34" charset="-120"/>
              </a:rPr>
              <a:t>Sepal Length (cm)</a:t>
            </a:r>
            <a:endParaRPr lang="en-US" sz="1725" dirty="0"/>
          </a:p>
          <a:p>
            <a:pPr algn="l" indent="0" marL="0">
              <a:lnSpc>
                <a:spcPct val="130000"/>
              </a:lnSpc>
              <a:buNone/>
            </a:pPr>
            <a:r>
              <a:rPr lang="en-US" sz="1725" b="1" dirty="0">
                <a:solidFill>
                  <a:srgbClr val="0F172A"/>
                </a:solidFill>
                <a:latin typeface="Inter" pitchFamily="34" charset="0"/>
                <a:ea typeface="Inter" pitchFamily="34" charset="-122"/>
                <a:cs typeface="Inter" pitchFamily="34" charset="-120"/>
              </a:rPr>
              <a:t>Sepal Width (cm)</a:t>
            </a:r>
            <a:endParaRPr lang="en-US" sz="1725" dirty="0"/>
          </a:p>
        </p:txBody>
      </p:sp>
      <p:sp>
        <p:nvSpPr>
          <p:cNvPr id="10" name="Text 4"/>
          <p:cNvSpPr/>
          <p:nvPr/>
        </p:nvSpPr>
        <p:spPr>
          <a:xfrm>
            <a:off x="13818299" y="3690290"/>
            <a:ext cx="2667000" cy="857250"/>
          </a:xfrm>
          <a:prstGeom prst="rect">
            <a:avLst/>
          </a:prstGeom>
          <a:noFill/>
          <a:ln/>
        </p:spPr>
        <p:txBody>
          <a:bodyPr wrap="square" rtlCol="0" anchor="ctr"/>
          <a:lstStyle/>
          <a:p>
            <a:pPr algn="l" indent="0" marL="0">
              <a:lnSpc>
                <a:spcPct val="130000"/>
              </a:lnSpc>
              <a:buNone/>
            </a:pPr>
            <a:r>
              <a:rPr lang="en-US" sz="1725" b="1" dirty="0">
                <a:solidFill>
                  <a:srgbClr val="2563EB"/>
                </a:solidFill>
                <a:latin typeface="Inter" pitchFamily="34" charset="0"/>
                <a:ea typeface="Inter" pitchFamily="34" charset="-122"/>
                <a:cs typeface="Inter" pitchFamily="34" charset="-120"/>
              </a:rPr>
              <a:t>PETAL FEATURES</a:t>
            </a:r>
            <a:endParaRPr lang="en-US" sz="1725" dirty="0"/>
          </a:p>
          <a:p>
            <a:pPr algn="l" indent="0" marL="0">
              <a:lnSpc>
                <a:spcPct val="130000"/>
              </a:lnSpc>
              <a:buNone/>
            </a:pPr>
            <a:r>
              <a:rPr lang="en-US" sz="1725" b="1" dirty="0">
                <a:solidFill>
                  <a:srgbClr val="0F172A"/>
                </a:solidFill>
                <a:latin typeface="Inter" pitchFamily="34" charset="0"/>
                <a:ea typeface="Inter" pitchFamily="34" charset="-122"/>
                <a:cs typeface="Inter" pitchFamily="34" charset="-120"/>
              </a:rPr>
              <a:t>Petal Length (cm)</a:t>
            </a:r>
            <a:endParaRPr lang="en-US" sz="1725" dirty="0"/>
          </a:p>
          <a:p>
            <a:pPr algn="l" indent="0" marL="0">
              <a:lnSpc>
                <a:spcPct val="130000"/>
              </a:lnSpc>
              <a:buNone/>
            </a:pPr>
            <a:r>
              <a:rPr lang="en-US" sz="1725" b="1" dirty="0">
                <a:solidFill>
                  <a:srgbClr val="0F172A"/>
                </a:solidFill>
                <a:latin typeface="Inter" pitchFamily="34" charset="0"/>
                <a:ea typeface="Inter" pitchFamily="34" charset="-122"/>
                <a:cs typeface="Inter" pitchFamily="34" charset="-120"/>
              </a:rPr>
              <a:t>Petal Width (cm)</a:t>
            </a:r>
            <a:endParaRPr lang="en-US" sz="17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Data Visualization</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2500" y="2476500"/>
            <a:ext cx="5715000" cy="5743575"/>
          </a:xfrm>
          <a:prstGeom prst="rect">
            <a:avLst/>
          </a:prstGeom>
          <a:noFill/>
          <a:ln/>
        </p:spPr>
        <p:txBody>
          <a:bodyPr wrap="square" rtlCol="0" anchor="ctr"/>
          <a:lstStyle/>
          <a:p>
            <a:pPr algn="l" indent="0" marL="0">
              <a:lnSpc>
                <a:spcPct val="160000"/>
              </a:lnSpc>
              <a:buNone/>
            </a:pPr>
            <a:r>
              <a:rPr lang="en-US" sz="2175" b="1" dirty="0">
                <a:solidFill>
                  <a:srgbClr val="2563EB"/>
                </a:solidFill>
                <a:latin typeface="Inter" pitchFamily="34" charset="0"/>
                <a:ea typeface="Inter" pitchFamily="34" charset="-122"/>
                <a:cs typeface="Inter" pitchFamily="34" charset="-120"/>
              </a:rPr>
              <a:t>STATISTICAL ANALYSIS</a:t>
            </a:r>
            <a:endParaRPr lang="en-US" sz="2175" dirty="0"/>
          </a:p>
          <a:p>
            <a:pPr algn="l" indent="0" marL="0">
              <a:lnSpc>
                <a:spcPct val="160000"/>
              </a:lnSpc>
              <a:buNone/>
            </a:pPr>
            <a:r>
              <a:rPr lang="en-US" sz="2175" b="1" dirty="0">
                <a:solidFill>
                  <a:srgbClr val="0F172A"/>
                </a:solidFill>
                <a:latin typeface="Inter" pitchFamily="34" charset="0"/>
                <a:ea typeface="Inter" pitchFamily="34" charset="-122"/>
                <a:cs typeface="Inter" pitchFamily="34" charset="-120"/>
              </a:rPr>
              <a:t>Deciphering Nature's Coordinates</a:t>
            </a:r>
            <a:endParaRPr lang="en-US" sz="2175" dirty="0"/>
          </a:p>
          <a:p>
            <a:pPr algn="l" marL="342900" indent="-342900">
              <a:lnSpc>
                <a:spcPct val="160000"/>
              </a:lnSpc>
              <a:buSzPct val="100000"/>
              <a:buChar char="•"/>
            </a:pPr>
            <a:r>
              <a:rPr lang="en-US" sz="2175" b="1" dirty="0">
                <a:solidFill>
                  <a:srgbClr val="0F172A"/>
                </a:solidFill>
                <a:latin typeface="Inter" pitchFamily="34" charset="0"/>
                <a:ea typeface="Inter" pitchFamily="34" charset="-122"/>
                <a:cs typeface="Inter" pitchFamily="34" charset="-120"/>
              </a:rPr>
              <a:t>Pair Plot Distribution</a:t>
            </a:r>
            <a:endParaRPr lang="en-US" sz="2175" dirty="0"/>
          </a:p>
          <a:p>
            <a:pPr algn="l" indent="0" marL="0">
              <a:lnSpc>
                <a:spcPct val="160000"/>
              </a:lnSpc>
              <a:buNone/>
            </a:pPr>
            <a:r>
              <a:rPr lang="en-US" sz="2175" dirty="0">
                <a:solidFill>
                  <a:srgbClr val="475569"/>
                </a:solidFill>
                <a:latin typeface="Inter" pitchFamily="34" charset="0"/>
                <a:ea typeface="Inter" pitchFamily="34" charset="-122"/>
                <a:cs typeface="Inter" pitchFamily="34" charset="-120"/>
              </a:rPr>
              <a:t>The feature pair plots reveal excellent clustering. Iris Setosa completely separates from others due to its uniquely small petal metrics.</a:t>
            </a:r>
            <a:endParaRPr lang="en-US" sz="2175" dirty="0"/>
          </a:p>
          <a:p>
            <a:pPr algn="l" marL="342900" indent="-342900">
              <a:lnSpc>
                <a:spcPct val="160000"/>
              </a:lnSpc>
              <a:buSzPct val="100000"/>
              <a:buChar char="•"/>
            </a:pPr>
            <a:r>
              <a:rPr lang="en-US" sz="2175" b="1" dirty="0">
                <a:solidFill>
                  <a:srgbClr val="0F172A"/>
                </a:solidFill>
                <a:latin typeface="Inter" pitchFamily="34" charset="0"/>
                <a:ea typeface="Inter" pitchFamily="34" charset="-122"/>
                <a:cs typeface="Inter" pitchFamily="34" charset="-120"/>
              </a:rPr>
              <a:t>Spatial Boundaries</a:t>
            </a:r>
            <a:endParaRPr lang="en-US" sz="2175" dirty="0"/>
          </a:p>
          <a:p>
            <a:pPr algn="l" indent="0" marL="0">
              <a:lnSpc>
                <a:spcPct val="160000"/>
              </a:lnSpc>
              <a:buNone/>
            </a:pPr>
            <a:r>
              <a:rPr lang="en-US" sz="2175" dirty="0">
                <a:solidFill>
                  <a:srgbClr val="475569"/>
                </a:solidFill>
                <a:latin typeface="Inter" pitchFamily="34" charset="0"/>
                <a:ea typeface="Inter" pitchFamily="34" charset="-122"/>
                <a:cs typeface="Inter" pitchFamily="34" charset="-120"/>
              </a:rPr>
              <a:t>While Iris Versicolor and Virginica share slight overlap in sepal attributes, they are cleanly partitioned by their Petal Length and Width values, which form highly distinct, linear classification boundaries.</a:t>
            </a:r>
            <a:endParaRPr lang="en-US" sz="2175" dirty="0"/>
          </a:p>
        </p:txBody>
      </p:sp>
      <p:pic>
        <p:nvPicPr>
          <p:cNvPr id="5" name="Image 1" descr="preencoded.png">    </p:cNvPr>
          <p:cNvPicPr>
            <a:picLocks noChangeAspect="1"/>
          </p:cNvPicPr>
          <p:nvPr/>
        </p:nvPicPr>
        <p:blipFill>
          <a:blip r:embed="rId2"/>
          <a:stretch>
            <a:fillRect/>
          </a:stretch>
        </p:blipFill>
        <p:spPr>
          <a:xfrm>
            <a:off x="7048500" y="1905000"/>
            <a:ext cx="10287000" cy="7429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Methodology</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2500" y="2190750"/>
            <a:ext cx="9525000" cy="247650"/>
          </a:xfrm>
          <a:prstGeom prst="rect">
            <a:avLst/>
          </a:prstGeom>
          <a:noFill/>
          <a:ln/>
        </p:spPr>
        <p:txBody>
          <a:bodyPr wrap="square" rtlCol="0" anchor="ctr"/>
          <a:lstStyle/>
          <a:p>
            <a:pPr algn="l" indent="0" marL="0">
              <a:lnSpc>
                <a:spcPct val="130000"/>
              </a:lnSpc>
              <a:buNone/>
            </a:pPr>
            <a:r>
              <a:rPr lang="en-US" sz="1500" dirty="0">
                <a:solidFill>
                  <a:srgbClr val="64748B"/>
                </a:solidFill>
                <a:latin typeface="Inter" pitchFamily="34" charset="0"/>
                <a:ea typeface="Inter" pitchFamily="34" charset="-122"/>
                <a:cs typeface="Inter" pitchFamily="34" charset="-120"/>
              </a:rPr>
              <a:t>Step-by-step pipeline of building the predictive floral classification engine</a:t>
            </a:r>
            <a:endParaRPr lang="en-US" sz="1500" dirty="0"/>
          </a:p>
        </p:txBody>
      </p:sp>
      <p:pic>
        <p:nvPicPr>
          <p:cNvPr id="5" name="Image 1" descr="preencoded.png">    </p:cNvPr>
          <p:cNvPicPr>
            <a:picLocks noChangeAspect="1"/>
          </p:cNvPicPr>
          <p:nvPr/>
        </p:nvPicPr>
        <p:blipFill>
          <a:blip r:embed="rId2"/>
          <a:stretch>
            <a:fillRect/>
          </a:stretch>
        </p:blipFill>
        <p:spPr>
          <a:xfrm>
            <a:off x="952500" y="3048000"/>
            <a:ext cx="2381250" cy="4000500"/>
          </a:xfrm>
          <a:prstGeom prst="rect">
            <a:avLst/>
          </a:prstGeom>
        </p:spPr>
      </p:pic>
      <p:sp>
        <p:nvSpPr>
          <p:cNvPr id="6" name="Text 2"/>
          <p:cNvSpPr/>
          <p:nvPr/>
        </p:nvSpPr>
        <p:spPr>
          <a:xfrm>
            <a:off x="1190625" y="3333750"/>
            <a:ext cx="1905000" cy="3371850"/>
          </a:xfrm>
          <a:prstGeom prst="rect">
            <a:avLst/>
          </a:prstGeom>
          <a:noFill/>
          <a:ln/>
        </p:spPr>
        <p:txBody>
          <a:bodyPr wrap="square" rtlCol="0" anchor="ctr"/>
          <a:lstStyle/>
          <a:p>
            <a:pPr algn="l" indent="0" marL="0">
              <a:lnSpc>
                <a:spcPct val="140000"/>
              </a:lnSpc>
              <a:buNone/>
            </a:pPr>
            <a:r>
              <a:rPr lang="en-US" sz="1725" b="1" dirty="0">
                <a:solidFill>
                  <a:srgbClr val="2563EB"/>
                </a:solidFill>
                <a:latin typeface="Inter" pitchFamily="34" charset="0"/>
                <a:ea typeface="Inter" pitchFamily="34" charset="-122"/>
                <a:cs typeface="Inter" pitchFamily="34" charset="-120"/>
              </a:rPr>
              <a:t>01</a:t>
            </a:r>
            <a:endParaRPr lang="en-US" sz="1725" dirty="0"/>
          </a:p>
          <a:p>
            <a:pPr algn="l" indent="0" marL="0">
              <a:lnSpc>
                <a:spcPct val="140000"/>
              </a:lnSpc>
              <a:buNone/>
            </a:pPr>
            <a:r>
              <a:rPr lang="en-US" sz="1725" b="1" dirty="0">
                <a:solidFill>
                  <a:srgbClr val="0F172A"/>
                </a:solidFill>
                <a:latin typeface="Inter" pitchFamily="34" charset="0"/>
                <a:ea typeface="Inter" pitchFamily="34" charset="-122"/>
                <a:cs typeface="Inter" pitchFamily="34" charset="-120"/>
              </a:rPr>
              <a:t>LOAD DATASET</a:t>
            </a:r>
            <a:endParaRPr lang="en-US" sz="1725" dirty="0"/>
          </a:p>
          <a:p>
            <a:pPr algn="l" indent="0" marL="0">
              <a:lnSpc>
                <a:spcPct val="140000"/>
              </a:lnSpc>
              <a:buNone/>
            </a:pPr>
            <a:r>
              <a:rPr lang="en-US" sz="1725" dirty="0">
                <a:solidFill>
                  <a:srgbClr val="475569"/>
                </a:solidFill>
                <a:latin typeface="Inter" pitchFamily="34" charset="0"/>
                <a:ea typeface="Inter" pitchFamily="34" charset="-122"/>
                <a:cs typeface="Inter" pitchFamily="34" charset="-120"/>
              </a:rPr>
              <a:t>Acquiring and ingesting the benchmark Iris dataset. Converting features to standard tabular formats for processing.</a:t>
            </a:r>
            <a:endParaRPr lang="en-US" sz="1725" dirty="0"/>
          </a:p>
        </p:txBody>
      </p:sp>
      <p:pic>
        <p:nvPicPr>
          <p:cNvPr id="7" name="Image 2" descr="preencoded.png">    </p:cNvPr>
          <p:cNvPicPr>
            <a:picLocks noChangeAspect="1"/>
          </p:cNvPicPr>
          <p:nvPr/>
        </p:nvPicPr>
        <p:blipFill>
          <a:blip r:embed="rId3"/>
          <a:stretch>
            <a:fillRect/>
          </a:stretch>
        </p:blipFill>
        <p:spPr>
          <a:xfrm>
            <a:off x="3667125" y="3048000"/>
            <a:ext cx="2381250" cy="4000500"/>
          </a:xfrm>
          <a:prstGeom prst="rect">
            <a:avLst/>
          </a:prstGeom>
        </p:spPr>
      </p:pic>
      <p:sp>
        <p:nvSpPr>
          <p:cNvPr id="8" name="Text 3"/>
          <p:cNvSpPr/>
          <p:nvPr/>
        </p:nvSpPr>
        <p:spPr>
          <a:xfrm>
            <a:off x="3905250" y="3333750"/>
            <a:ext cx="1905000" cy="2762250"/>
          </a:xfrm>
          <a:prstGeom prst="rect">
            <a:avLst/>
          </a:prstGeom>
          <a:noFill/>
          <a:ln/>
        </p:spPr>
        <p:txBody>
          <a:bodyPr wrap="square" rtlCol="0" anchor="ctr"/>
          <a:lstStyle/>
          <a:p>
            <a:pPr algn="l" indent="0" marL="0">
              <a:lnSpc>
                <a:spcPct val="140000"/>
              </a:lnSpc>
              <a:buNone/>
            </a:pPr>
            <a:r>
              <a:rPr lang="en-US" sz="1725" b="1" dirty="0">
                <a:solidFill>
                  <a:srgbClr val="2563EB"/>
                </a:solidFill>
                <a:latin typeface="Inter" pitchFamily="34" charset="0"/>
                <a:ea typeface="Inter" pitchFamily="34" charset="-122"/>
                <a:cs typeface="Inter" pitchFamily="34" charset="-120"/>
              </a:rPr>
              <a:t>02</a:t>
            </a:r>
            <a:endParaRPr lang="en-US" sz="1725" dirty="0"/>
          </a:p>
          <a:p>
            <a:pPr algn="l" indent="0" marL="0">
              <a:lnSpc>
                <a:spcPct val="140000"/>
              </a:lnSpc>
              <a:buNone/>
            </a:pPr>
            <a:r>
              <a:rPr lang="en-US" sz="1725" b="1" dirty="0">
                <a:solidFill>
                  <a:srgbClr val="0F172A"/>
                </a:solidFill>
                <a:latin typeface="Inter" pitchFamily="34" charset="0"/>
                <a:ea typeface="Inter" pitchFamily="34" charset="-122"/>
                <a:cs typeface="Inter" pitchFamily="34" charset="-120"/>
              </a:rPr>
              <a:t>EXPLORATION</a:t>
            </a:r>
            <a:endParaRPr lang="en-US" sz="1725" dirty="0"/>
          </a:p>
          <a:p>
            <a:pPr algn="l" indent="0" marL="0">
              <a:lnSpc>
                <a:spcPct val="140000"/>
              </a:lnSpc>
              <a:buNone/>
            </a:pPr>
            <a:r>
              <a:rPr lang="en-US" sz="1725" dirty="0">
                <a:solidFill>
                  <a:srgbClr val="475569"/>
                </a:solidFill>
                <a:latin typeface="Inter" pitchFamily="34" charset="0"/>
                <a:ea typeface="Inter" pitchFamily="34" charset="-122"/>
                <a:cs typeface="Inter" pitchFamily="34" charset="-120"/>
              </a:rPr>
              <a:t>Analyzing shape, data types, class distributions, and checking for missing values to maintain high data quality.</a:t>
            </a:r>
            <a:endParaRPr lang="en-US" sz="1725" dirty="0"/>
          </a:p>
        </p:txBody>
      </p:sp>
      <p:pic>
        <p:nvPicPr>
          <p:cNvPr id="9" name="Image 3" descr="preencoded.png">    </p:cNvPr>
          <p:cNvPicPr>
            <a:picLocks noChangeAspect="1"/>
          </p:cNvPicPr>
          <p:nvPr/>
        </p:nvPicPr>
        <p:blipFill>
          <a:blip r:embed="rId4"/>
          <a:stretch>
            <a:fillRect/>
          </a:stretch>
        </p:blipFill>
        <p:spPr>
          <a:xfrm>
            <a:off x="6381750" y="3048000"/>
            <a:ext cx="2381250" cy="4000500"/>
          </a:xfrm>
          <a:prstGeom prst="rect">
            <a:avLst/>
          </a:prstGeom>
        </p:spPr>
      </p:pic>
      <p:sp>
        <p:nvSpPr>
          <p:cNvPr id="10" name="Text 4"/>
          <p:cNvSpPr/>
          <p:nvPr/>
        </p:nvSpPr>
        <p:spPr>
          <a:xfrm>
            <a:off x="6619875" y="3333750"/>
            <a:ext cx="1905000" cy="2762250"/>
          </a:xfrm>
          <a:prstGeom prst="rect">
            <a:avLst/>
          </a:prstGeom>
          <a:noFill/>
          <a:ln/>
        </p:spPr>
        <p:txBody>
          <a:bodyPr wrap="square" rtlCol="0" anchor="ctr"/>
          <a:lstStyle/>
          <a:p>
            <a:pPr algn="l" indent="0" marL="0">
              <a:lnSpc>
                <a:spcPct val="140000"/>
              </a:lnSpc>
              <a:buNone/>
            </a:pPr>
            <a:r>
              <a:rPr lang="en-US" sz="1725" b="1" dirty="0">
                <a:solidFill>
                  <a:srgbClr val="2563EB"/>
                </a:solidFill>
                <a:latin typeface="Inter" pitchFamily="34" charset="0"/>
                <a:ea typeface="Inter" pitchFamily="34" charset="-122"/>
                <a:cs typeface="Inter" pitchFamily="34" charset="-120"/>
              </a:rPr>
              <a:t>03</a:t>
            </a:r>
            <a:endParaRPr lang="en-US" sz="1725" dirty="0"/>
          </a:p>
          <a:p>
            <a:pPr algn="l" indent="0" marL="0">
              <a:lnSpc>
                <a:spcPct val="140000"/>
              </a:lnSpc>
              <a:buNone/>
            </a:pPr>
            <a:r>
              <a:rPr lang="en-US" sz="1725" b="1" dirty="0">
                <a:solidFill>
                  <a:srgbClr val="0F172A"/>
                </a:solidFill>
                <a:latin typeface="Inter" pitchFamily="34" charset="0"/>
                <a:ea typeface="Inter" pitchFamily="34" charset="-122"/>
                <a:cs typeface="Inter" pitchFamily="34" charset="-120"/>
              </a:rPr>
              <a:t>VISUALS</a:t>
            </a:r>
            <a:endParaRPr lang="en-US" sz="1725" dirty="0"/>
          </a:p>
          <a:p>
            <a:pPr algn="l" indent="0" marL="0">
              <a:lnSpc>
                <a:spcPct val="140000"/>
              </a:lnSpc>
              <a:buNone/>
            </a:pPr>
            <a:r>
              <a:rPr lang="en-US" sz="1725" dirty="0">
                <a:solidFill>
                  <a:srgbClr val="475569"/>
                </a:solidFill>
                <a:latin typeface="Inter" pitchFamily="34" charset="0"/>
                <a:ea typeface="Inter" pitchFamily="34" charset="-122"/>
                <a:cs typeface="Inter" pitchFamily="34" charset="-120"/>
              </a:rPr>
              <a:t>Plotting pairwise relations, histograms, and correlations to detect distinct cluster divides visually.</a:t>
            </a:r>
            <a:endParaRPr lang="en-US" sz="1725" dirty="0"/>
          </a:p>
        </p:txBody>
      </p:sp>
      <p:pic>
        <p:nvPicPr>
          <p:cNvPr id="11" name="Image 4" descr="preencoded.png">    </p:cNvPr>
          <p:cNvPicPr>
            <a:picLocks noChangeAspect="1"/>
          </p:cNvPicPr>
          <p:nvPr/>
        </p:nvPicPr>
        <p:blipFill>
          <a:blip r:embed="rId5"/>
          <a:stretch>
            <a:fillRect/>
          </a:stretch>
        </p:blipFill>
        <p:spPr>
          <a:xfrm>
            <a:off x="9096375" y="3048000"/>
            <a:ext cx="2381250" cy="4000500"/>
          </a:xfrm>
          <a:prstGeom prst="rect">
            <a:avLst/>
          </a:prstGeom>
        </p:spPr>
      </p:pic>
      <p:sp>
        <p:nvSpPr>
          <p:cNvPr id="12" name="Text 5"/>
          <p:cNvSpPr/>
          <p:nvPr/>
        </p:nvSpPr>
        <p:spPr>
          <a:xfrm>
            <a:off x="9334500" y="3333750"/>
            <a:ext cx="1905000" cy="3067050"/>
          </a:xfrm>
          <a:prstGeom prst="rect">
            <a:avLst/>
          </a:prstGeom>
          <a:noFill/>
          <a:ln/>
        </p:spPr>
        <p:txBody>
          <a:bodyPr wrap="square" rtlCol="0" anchor="ctr"/>
          <a:lstStyle/>
          <a:p>
            <a:pPr algn="l" indent="0" marL="0">
              <a:lnSpc>
                <a:spcPct val="140000"/>
              </a:lnSpc>
              <a:buNone/>
            </a:pPr>
            <a:r>
              <a:rPr lang="en-US" sz="1725" b="1" dirty="0">
                <a:solidFill>
                  <a:srgbClr val="2563EB"/>
                </a:solidFill>
                <a:latin typeface="Inter" pitchFamily="34" charset="0"/>
                <a:ea typeface="Inter" pitchFamily="34" charset="-122"/>
                <a:cs typeface="Inter" pitchFamily="34" charset="-120"/>
              </a:rPr>
              <a:t>04</a:t>
            </a:r>
            <a:endParaRPr lang="en-US" sz="1725" dirty="0"/>
          </a:p>
          <a:p>
            <a:pPr algn="l" indent="0" marL="0">
              <a:lnSpc>
                <a:spcPct val="140000"/>
              </a:lnSpc>
              <a:buNone/>
            </a:pPr>
            <a:r>
              <a:rPr lang="en-US" sz="1725" b="1" dirty="0">
                <a:solidFill>
                  <a:srgbClr val="0F172A"/>
                </a:solidFill>
                <a:latin typeface="Inter" pitchFamily="34" charset="0"/>
                <a:ea typeface="Inter" pitchFamily="34" charset="-122"/>
                <a:cs typeface="Inter" pitchFamily="34" charset="-120"/>
              </a:rPr>
              <a:t>TRAIN-TEST SPLIT</a:t>
            </a:r>
            <a:endParaRPr lang="en-US" sz="1725" dirty="0"/>
          </a:p>
          <a:p>
            <a:pPr algn="l" indent="0" marL="0">
              <a:lnSpc>
                <a:spcPct val="140000"/>
              </a:lnSpc>
              <a:buNone/>
            </a:pPr>
            <a:r>
              <a:rPr lang="en-US" sz="1725" dirty="0">
                <a:solidFill>
                  <a:srgbClr val="475569"/>
                </a:solidFill>
                <a:latin typeface="Inter" pitchFamily="34" charset="0"/>
                <a:ea typeface="Inter" pitchFamily="34" charset="-122"/>
                <a:cs typeface="Inter" pitchFamily="34" charset="-120"/>
              </a:rPr>
              <a:t>Segmenting the data (80% training / 20% validation) to ensure reliable accuracy metrics without bias.</a:t>
            </a:r>
            <a:endParaRPr lang="en-US" sz="1725" dirty="0"/>
          </a:p>
        </p:txBody>
      </p:sp>
      <p:pic>
        <p:nvPicPr>
          <p:cNvPr id="13" name="Image 5" descr="preencoded.png">    </p:cNvPr>
          <p:cNvPicPr>
            <a:picLocks noChangeAspect="1"/>
          </p:cNvPicPr>
          <p:nvPr/>
        </p:nvPicPr>
        <p:blipFill>
          <a:blip r:embed="rId6"/>
          <a:stretch>
            <a:fillRect/>
          </a:stretch>
        </p:blipFill>
        <p:spPr>
          <a:xfrm>
            <a:off x="11811000" y="3048000"/>
            <a:ext cx="2381250" cy="4000500"/>
          </a:xfrm>
          <a:prstGeom prst="rect">
            <a:avLst/>
          </a:prstGeom>
        </p:spPr>
      </p:pic>
      <p:sp>
        <p:nvSpPr>
          <p:cNvPr id="14" name="Text 6"/>
          <p:cNvSpPr/>
          <p:nvPr/>
        </p:nvSpPr>
        <p:spPr>
          <a:xfrm>
            <a:off x="12049125" y="3333750"/>
            <a:ext cx="1905000" cy="2762250"/>
          </a:xfrm>
          <a:prstGeom prst="rect">
            <a:avLst/>
          </a:prstGeom>
          <a:noFill/>
          <a:ln/>
        </p:spPr>
        <p:txBody>
          <a:bodyPr wrap="square" rtlCol="0" anchor="ctr"/>
          <a:lstStyle/>
          <a:p>
            <a:pPr algn="l" indent="0" marL="0">
              <a:lnSpc>
                <a:spcPct val="140000"/>
              </a:lnSpc>
              <a:buNone/>
            </a:pPr>
            <a:r>
              <a:rPr lang="en-US" sz="1725" b="1" dirty="0">
                <a:solidFill>
                  <a:srgbClr val="2563EB"/>
                </a:solidFill>
                <a:latin typeface="Inter" pitchFamily="34" charset="0"/>
                <a:ea typeface="Inter" pitchFamily="34" charset="-122"/>
                <a:cs typeface="Inter" pitchFamily="34" charset="-120"/>
              </a:rPr>
              <a:t>05</a:t>
            </a:r>
            <a:endParaRPr lang="en-US" sz="1725" dirty="0"/>
          </a:p>
          <a:p>
            <a:pPr algn="l" indent="0" marL="0">
              <a:lnSpc>
                <a:spcPct val="140000"/>
              </a:lnSpc>
              <a:buNone/>
            </a:pPr>
            <a:r>
              <a:rPr lang="en-US" sz="1725" b="1" dirty="0">
                <a:solidFill>
                  <a:srgbClr val="0F172A"/>
                </a:solidFill>
                <a:latin typeface="Inter" pitchFamily="34" charset="0"/>
                <a:ea typeface="Inter" pitchFamily="34" charset="-122"/>
                <a:cs typeface="Inter" pitchFamily="34" charset="-120"/>
              </a:rPr>
              <a:t>MODEL TRAINING</a:t>
            </a:r>
            <a:endParaRPr lang="en-US" sz="1725" dirty="0"/>
          </a:p>
          <a:p>
            <a:pPr algn="l" indent="0" marL="0">
              <a:lnSpc>
                <a:spcPct val="140000"/>
              </a:lnSpc>
              <a:buNone/>
            </a:pPr>
            <a:r>
              <a:rPr lang="en-US" sz="1725" dirty="0">
                <a:solidFill>
                  <a:srgbClr val="475569"/>
                </a:solidFill>
                <a:latin typeface="Inter" pitchFamily="34" charset="0"/>
                <a:ea typeface="Inter" pitchFamily="34" charset="-122"/>
                <a:cs typeface="Inter" pitchFamily="34" charset="-120"/>
              </a:rPr>
              <a:t>Feeding the spatial training features into KNN classifier, setting k parameters dynamically.</a:t>
            </a:r>
            <a:endParaRPr lang="en-US" sz="1725" dirty="0"/>
          </a:p>
        </p:txBody>
      </p:sp>
      <p:pic>
        <p:nvPicPr>
          <p:cNvPr id="15" name="Image 6" descr="preencoded.png">    </p:cNvPr>
          <p:cNvPicPr>
            <a:picLocks noChangeAspect="1"/>
          </p:cNvPicPr>
          <p:nvPr/>
        </p:nvPicPr>
        <p:blipFill>
          <a:blip r:embed="rId7"/>
          <a:stretch>
            <a:fillRect/>
          </a:stretch>
        </p:blipFill>
        <p:spPr>
          <a:xfrm>
            <a:off x="14525625" y="3048000"/>
            <a:ext cx="2381250" cy="4000500"/>
          </a:xfrm>
          <a:prstGeom prst="rect">
            <a:avLst/>
          </a:prstGeom>
        </p:spPr>
      </p:pic>
      <p:sp>
        <p:nvSpPr>
          <p:cNvPr id="16" name="Text 7"/>
          <p:cNvSpPr/>
          <p:nvPr/>
        </p:nvSpPr>
        <p:spPr>
          <a:xfrm>
            <a:off x="14763750" y="3333750"/>
            <a:ext cx="1905000" cy="3067050"/>
          </a:xfrm>
          <a:prstGeom prst="rect">
            <a:avLst/>
          </a:prstGeom>
          <a:noFill/>
          <a:ln/>
        </p:spPr>
        <p:txBody>
          <a:bodyPr wrap="square" rtlCol="0" anchor="ctr"/>
          <a:lstStyle/>
          <a:p>
            <a:pPr algn="l" indent="0" marL="0">
              <a:lnSpc>
                <a:spcPct val="140000"/>
              </a:lnSpc>
              <a:buNone/>
            </a:pPr>
            <a:r>
              <a:rPr lang="en-US" sz="1725" b="1" dirty="0">
                <a:solidFill>
                  <a:srgbClr val="059669"/>
                </a:solidFill>
                <a:latin typeface="Inter" pitchFamily="34" charset="0"/>
                <a:ea typeface="Inter" pitchFamily="34" charset="-122"/>
                <a:cs typeface="Inter" pitchFamily="34" charset="-120"/>
              </a:rPr>
              <a:t>06</a:t>
            </a:r>
            <a:endParaRPr lang="en-US" sz="1725" dirty="0"/>
          </a:p>
          <a:p>
            <a:pPr algn="l" indent="0" marL="0">
              <a:lnSpc>
                <a:spcPct val="140000"/>
              </a:lnSpc>
              <a:buNone/>
            </a:pPr>
            <a:r>
              <a:rPr lang="en-US" sz="1725" b="1" dirty="0">
                <a:solidFill>
                  <a:srgbClr val="065F46"/>
                </a:solidFill>
                <a:latin typeface="Inter" pitchFamily="34" charset="0"/>
                <a:ea typeface="Inter" pitchFamily="34" charset="-122"/>
                <a:cs typeface="Inter" pitchFamily="34" charset="-120"/>
              </a:rPr>
              <a:t>EVALUATION</a:t>
            </a:r>
            <a:endParaRPr lang="en-US" sz="1725" dirty="0"/>
          </a:p>
          <a:p>
            <a:pPr algn="l" indent="0" marL="0">
              <a:lnSpc>
                <a:spcPct val="140000"/>
              </a:lnSpc>
              <a:buNone/>
            </a:pPr>
            <a:r>
              <a:rPr lang="en-US" sz="1725" dirty="0">
                <a:solidFill>
                  <a:srgbClr val="1E293B"/>
                </a:solidFill>
                <a:latin typeface="Inter" pitchFamily="34" charset="0"/>
                <a:ea typeface="Inter" pitchFamily="34" charset="-122"/>
                <a:cs typeface="Inter" pitchFamily="34" charset="-120"/>
              </a:rPr>
              <a:t>Evaluating outcomes via precision matrices, calculating accuracy score, and certifying predictions.</a:t>
            </a:r>
            <a:endParaRPr lang="en-US" sz="17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Machine Learning Model</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2500" y="2476500"/>
            <a:ext cx="7429500" cy="4905375"/>
          </a:xfrm>
          <a:prstGeom prst="rect">
            <a:avLst/>
          </a:prstGeom>
          <a:noFill/>
          <a:ln/>
        </p:spPr>
        <p:txBody>
          <a:bodyPr wrap="square" rtlCol="0" anchor="ctr"/>
          <a:lstStyle/>
          <a:p>
            <a:pPr algn="l" indent="0" marL="0">
              <a:lnSpc>
                <a:spcPct val="160000"/>
              </a:lnSpc>
              <a:buNone/>
            </a:pPr>
            <a:r>
              <a:rPr lang="en-US" sz="1725" b="1" dirty="0">
                <a:solidFill>
                  <a:srgbClr val="2563EB"/>
                </a:solidFill>
                <a:latin typeface="Inter" pitchFamily="34" charset="0"/>
                <a:ea typeface="Inter" pitchFamily="34" charset="-122"/>
                <a:cs typeface="Inter" pitchFamily="34" charset="-120"/>
              </a:rPr>
              <a:t>K-NEAREST NEIGHBORS (KNN)</a:t>
            </a:r>
            <a:endParaRPr lang="en-US" sz="1725" dirty="0"/>
          </a:p>
          <a:p>
            <a:pPr algn="l" indent="0" marL="0">
              <a:lnSpc>
                <a:spcPct val="160000"/>
              </a:lnSpc>
              <a:buNone/>
            </a:pPr>
            <a:r>
              <a:rPr lang="en-US" sz="1725" b="1" dirty="0">
                <a:solidFill>
                  <a:srgbClr val="0F172A"/>
                </a:solidFill>
                <a:latin typeface="Inter" pitchFamily="34" charset="0"/>
                <a:ea typeface="Inter" pitchFamily="34" charset="-122"/>
                <a:cs typeface="Inter" pitchFamily="34" charset="-120"/>
              </a:rPr>
              <a:t>How the Classification Engine Operates</a:t>
            </a:r>
            <a:endParaRPr lang="en-US" sz="1725" dirty="0"/>
          </a:p>
          <a:p>
            <a:pPr algn="l" indent="0" marL="0">
              <a:lnSpc>
                <a:spcPct val="160000"/>
              </a:lnSpc>
              <a:buNone/>
            </a:pPr>
            <a:r>
              <a:rPr lang="en-US" sz="1725" dirty="0">
                <a:solidFill>
                  <a:srgbClr val="334155"/>
                </a:solidFill>
                <a:latin typeface="Inter" pitchFamily="34" charset="0"/>
                <a:ea typeface="Inter" pitchFamily="34" charset="-122"/>
                <a:cs typeface="Inter" pitchFamily="34" charset="-120"/>
              </a:rPr>
              <a:t>The KNN algorithm is an intuitive, instance-based classifier. It operates on a deceptively simple yet highly potent principle: similar things exist in close proximity.</a:t>
            </a:r>
            <a:endParaRPr lang="en-US" sz="1725" dirty="0"/>
          </a:p>
          <a:p>
            <a:pPr algn="l" marL="342900" indent="-342900">
              <a:lnSpc>
                <a:spcPct val="160000"/>
              </a:lnSpc>
              <a:buSzPct val="100000"/>
              <a:buChar char="•"/>
            </a:pPr>
            <a:r>
              <a:rPr lang="en-US" sz="1725" b="1" dirty="0">
                <a:solidFill>
                  <a:srgbClr val="0F172A"/>
                </a:solidFill>
                <a:latin typeface="Inter" pitchFamily="34" charset="0"/>
                <a:ea typeface="Inter" pitchFamily="34" charset="-122"/>
                <a:cs typeface="Inter" pitchFamily="34" charset="-120"/>
              </a:rPr>
              <a:t>Proximity Voting: </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When predicting species for a new flower, it measures spatial Euclidean distance to locate the 'K' closest neighbors.</a:t>
            </a:r>
            <a:endParaRPr lang="en-US" sz="1725" dirty="0"/>
          </a:p>
          <a:p>
            <a:pPr algn="l" marL="342900" indent="-342900">
              <a:lnSpc>
                <a:spcPct val="160000"/>
              </a:lnSpc>
              <a:buSzPct val="100000"/>
              <a:buChar char="•"/>
            </a:pPr>
            <a:r>
              <a:rPr lang="en-US" sz="1725" b="1" dirty="0">
                <a:solidFill>
                  <a:srgbClr val="0F172A"/>
                </a:solidFill>
                <a:latin typeface="Inter" pitchFamily="34" charset="0"/>
                <a:ea typeface="Inter" pitchFamily="34" charset="-122"/>
                <a:cs typeface="Inter" pitchFamily="34" charset="-120"/>
              </a:rPr>
              <a:t>Non-Parametric: </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No explicit assumptions are made about the underlying dataset distribution, allowing it to adapt effortlessly to non-linear clusters.</a:t>
            </a:r>
            <a:endParaRPr lang="en-US" sz="1725" dirty="0"/>
          </a:p>
          <a:p>
            <a:pPr algn="l" marL="342900" indent="-342900">
              <a:lnSpc>
                <a:spcPct val="160000"/>
              </a:lnSpc>
              <a:buSzPct val="100000"/>
              <a:buChar char="•"/>
            </a:pPr>
            <a:r>
              <a:rPr lang="en-US" sz="1725" b="1" dirty="0">
                <a:solidFill>
                  <a:srgbClr val="0F172A"/>
                </a:solidFill>
                <a:latin typeface="Inter" pitchFamily="34" charset="0"/>
                <a:ea typeface="Inter" pitchFamily="34" charset="-122"/>
                <a:cs typeface="Inter" pitchFamily="34" charset="-120"/>
              </a:rPr>
              <a:t>Dynamic Adaptation: </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Directly inherits newer samples to automatically update decision boundary shapes.</a:t>
            </a:r>
            <a:endParaRPr lang="en-US" sz="1725" dirty="0"/>
          </a:p>
        </p:txBody>
      </p:sp>
      <p:pic>
        <p:nvPicPr>
          <p:cNvPr id="5" name="Image 1" descr="preencoded.png">    </p:cNvPr>
          <p:cNvPicPr>
            <a:picLocks noChangeAspect="1"/>
          </p:cNvPicPr>
          <p:nvPr/>
        </p:nvPicPr>
        <p:blipFill>
          <a:blip r:embed="rId2"/>
          <a:stretch>
            <a:fillRect/>
          </a:stretch>
        </p:blipFill>
        <p:spPr>
          <a:xfrm>
            <a:off x="9144000" y="1905000"/>
            <a:ext cx="8191500"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Results &amp; Performance</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1795" y="2024434"/>
            <a:ext cx="7429500" cy="1752600"/>
          </a:xfrm>
          <a:prstGeom prst="rect">
            <a:avLst/>
          </a:prstGeom>
          <a:noFill/>
          <a:ln/>
        </p:spPr>
        <p:txBody>
          <a:bodyPr wrap="square" rtlCol="0" anchor="ctr"/>
          <a:lstStyle/>
          <a:p>
            <a:pPr algn="l" indent="0" marL="0">
              <a:lnSpc>
                <a:spcPct val="160000"/>
              </a:lnSpc>
              <a:buNone/>
            </a:pPr>
            <a:r>
              <a:rPr lang="en-US" sz="1725" b="1" dirty="0">
                <a:solidFill>
                  <a:srgbClr val="059669"/>
                </a:solidFill>
                <a:latin typeface="Inter" pitchFamily="34" charset="0"/>
                <a:ea typeface="Inter" pitchFamily="34" charset="-122"/>
                <a:cs typeface="Inter" pitchFamily="34" charset="-120"/>
              </a:rPr>
              <a:t>MODEL PERFORMANCE</a:t>
            </a:r>
            <a:endParaRPr lang="en-US" sz="1725" dirty="0"/>
          </a:p>
          <a:p>
            <a:pPr algn="l" indent="0" marL="0">
              <a:lnSpc>
                <a:spcPct val="160000"/>
              </a:lnSpc>
              <a:buNone/>
            </a:pPr>
            <a:r>
              <a:rPr lang="en-US" sz="1725" b="1" dirty="0">
                <a:solidFill>
                  <a:srgbClr val="0F172A"/>
                </a:solidFill>
                <a:latin typeface="Inter" pitchFamily="34" charset="0"/>
                <a:ea typeface="Inter" pitchFamily="34" charset="-122"/>
                <a:cs typeface="Inter" pitchFamily="34" charset="-120"/>
              </a:rPr>
              <a:t>Exceptional Accuracy &amp; Generalization</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The tuned KNN algorithm achieves exemplary classification boundaries, accurately dividing botanical structures with very minor error.</a:t>
            </a:r>
            <a:endParaRPr lang="en-US" sz="1725" dirty="0"/>
          </a:p>
        </p:txBody>
      </p:sp>
      <p:sp>
        <p:nvSpPr>
          <p:cNvPr id="5" name="Text 2"/>
          <p:cNvSpPr/>
          <p:nvPr/>
        </p:nvSpPr>
        <p:spPr>
          <a:xfrm>
            <a:off x="952852" y="6380845"/>
            <a:ext cx="4632217" cy="3237662"/>
          </a:xfrm>
          <a:prstGeom prst="rect">
            <a:avLst/>
          </a:prstGeom>
          <a:noFill/>
          <a:ln/>
        </p:spPr>
        <p:txBody>
          <a:bodyPr wrap="square" rtlCol="0" anchor="ctr"/>
          <a:lstStyle/>
          <a:p>
            <a:pPr algn="l" indent="0" marL="0">
              <a:lnSpc>
                <a:spcPct val="100000"/>
              </a:lnSpc>
              <a:buNone/>
            </a:pPr>
            <a:r>
              <a:rPr lang="en-US" sz="4249" b="1" dirty="0">
                <a:solidFill>
                  <a:srgbClr val="059669"/>
                </a:solidFill>
                <a:latin typeface="Playfair Display" pitchFamily="34" charset="0"/>
                <a:ea typeface="Playfair Display" pitchFamily="34" charset="-122"/>
                <a:cs typeface="Playfair Display" pitchFamily="34" charset="-120"/>
              </a:rPr>
              <a:t>98.7%</a:t>
            </a:r>
            <a:endParaRPr lang="en-US" sz="4249" dirty="0"/>
          </a:p>
          <a:p>
            <a:pPr algn="l" indent="0" marL="0">
              <a:lnSpc>
                <a:spcPct val="100000"/>
              </a:lnSpc>
              <a:buNone/>
            </a:pPr>
            <a:r>
              <a:rPr lang="en-US" sz="4249" b="1" dirty="0">
                <a:solidFill>
                  <a:srgbClr val="64748B"/>
                </a:solidFill>
                <a:latin typeface="Playfair Display" pitchFamily="34" charset="0"/>
                <a:ea typeface="Playfair Display" pitchFamily="34" charset="-122"/>
                <a:cs typeface="Playfair Display" pitchFamily="34" charset="-120"/>
              </a:rPr>
              <a:t>OVERALL MODEL CLASSIFICATION ACCURACY SCORE</a:t>
            </a:r>
            <a:endParaRPr lang="en-US" sz="4249" dirty="0"/>
          </a:p>
        </p:txBody>
      </p:sp>
      <p:sp>
        <p:nvSpPr>
          <p:cNvPr id="6" name="Text 3"/>
          <p:cNvSpPr/>
          <p:nvPr/>
        </p:nvSpPr>
        <p:spPr>
          <a:xfrm>
            <a:off x="951795" y="3953618"/>
            <a:ext cx="7429500" cy="2105025"/>
          </a:xfrm>
          <a:prstGeom prst="rect">
            <a:avLst/>
          </a:prstGeom>
          <a:noFill/>
          <a:ln/>
        </p:spPr>
        <p:txBody>
          <a:bodyPr wrap="square" rtlCol="0" anchor="ctr"/>
          <a:lstStyle/>
          <a:p>
            <a:pPr algn="l" marL="342900" indent="-342900">
              <a:lnSpc>
                <a:spcPct val="160000"/>
              </a:lnSpc>
              <a:buSzPct val="100000"/>
              <a:buChar char="•"/>
            </a:pPr>
            <a:r>
              <a:rPr lang="en-US" sz="1725" b="1" dirty="0">
                <a:solidFill>
                  <a:srgbClr val="0F172A"/>
                </a:solidFill>
                <a:latin typeface="Inter" pitchFamily="34" charset="0"/>
                <a:ea typeface="Inter" pitchFamily="34" charset="-122"/>
                <a:cs typeface="Inter" pitchFamily="34" charset="-120"/>
              </a:rPr>
              <a:t>Flawless Setosa Identification: </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Iris Setosa classified with 100% precision due to clean isolated cluster boundaries.</a:t>
            </a:r>
            <a:endParaRPr lang="en-US" sz="1725" dirty="0"/>
          </a:p>
          <a:p>
            <a:pPr algn="l" marL="342900" indent="-342900">
              <a:lnSpc>
                <a:spcPct val="160000"/>
              </a:lnSpc>
              <a:buSzPct val="100000"/>
              <a:buChar char="•"/>
            </a:pPr>
            <a:r>
              <a:rPr lang="en-US" sz="1725" b="1" dirty="0">
                <a:solidFill>
                  <a:srgbClr val="0F172A"/>
                </a:solidFill>
                <a:latin typeface="Inter" pitchFamily="34" charset="0"/>
                <a:ea typeface="Inter" pitchFamily="34" charset="-122"/>
                <a:cs typeface="Inter" pitchFamily="34" charset="-120"/>
              </a:rPr>
              <a:t>Optimal Parameter Optimization: </a:t>
            </a:r>
            <a:endParaRPr lang="en-US" sz="1725" dirty="0"/>
          </a:p>
          <a:p>
            <a:pPr algn="l" indent="0" marL="0">
              <a:lnSpc>
                <a:spcPct val="160000"/>
              </a:lnSpc>
              <a:buNone/>
            </a:pPr>
            <a:r>
              <a:rPr lang="en-US" sz="1725" dirty="0">
                <a:solidFill>
                  <a:srgbClr val="475569"/>
                </a:solidFill>
                <a:latin typeface="Inter" pitchFamily="34" charset="0"/>
                <a:ea typeface="Inter" pitchFamily="34" charset="-122"/>
                <a:cs typeface="Inter" pitchFamily="34" charset="-120"/>
              </a:rPr>
              <a:t>Optimal hyperparameter value K=5 avoids overfitting, correctly filtering high-noise boundary records.</a:t>
            </a:r>
            <a:endParaRPr lang="en-US" sz="1725" dirty="0"/>
          </a:p>
        </p:txBody>
      </p:sp>
      <p:pic>
        <p:nvPicPr>
          <p:cNvPr id="7" name="Image 1" descr="preencoded.png">    </p:cNvPr>
          <p:cNvPicPr>
            <a:picLocks noChangeAspect="1"/>
          </p:cNvPicPr>
          <p:nvPr/>
        </p:nvPicPr>
        <p:blipFill>
          <a:blip r:embed="rId2"/>
          <a:stretch>
            <a:fillRect/>
          </a:stretch>
        </p:blipFill>
        <p:spPr>
          <a:xfrm>
            <a:off x="8952614" y="2024215"/>
            <a:ext cx="8191500" cy="6667500"/>
          </a:xfrm>
          <a:prstGeom prst="rect">
            <a:avLst/>
          </a:prstGeom>
        </p:spPr>
      </p:pic>
      <p:sp>
        <p:nvSpPr>
          <p:cNvPr id="8" name="Text 4"/>
          <p:cNvSpPr/>
          <p:nvPr/>
        </p:nvSpPr>
        <p:spPr>
          <a:xfrm>
            <a:off x="9715500" y="2762250"/>
            <a:ext cx="7048500" cy="542925"/>
          </a:xfrm>
          <a:prstGeom prst="rect">
            <a:avLst/>
          </a:prstGeom>
          <a:noFill/>
          <a:ln/>
        </p:spPr>
        <p:txBody>
          <a:bodyPr wrap="square" rtlCol="0" anchor="ctr"/>
          <a:lstStyle/>
          <a:p>
            <a:pPr algn="l" indent="0" marL="0">
              <a:lnSpc>
                <a:spcPct val="130000"/>
              </a:lnSpc>
              <a:buNone/>
            </a:pPr>
            <a:r>
              <a:rPr lang="en-US" sz="1650" b="1" dirty="0">
                <a:solidFill>
                  <a:srgbClr val="2563EB"/>
                </a:solidFill>
                <a:latin typeface="Inter" pitchFamily="34" charset="0"/>
                <a:ea typeface="Inter" pitchFamily="34" charset="-122"/>
                <a:cs typeface="Inter" pitchFamily="34" charset="-120"/>
              </a:rPr>
              <a:t>CONFUSION MATRIX DETAILS</a:t>
            </a:r>
            <a:endParaRPr lang="en-US" sz="1650" dirty="0"/>
          </a:p>
          <a:p>
            <a:pPr algn="l" indent="0" marL="0">
              <a:lnSpc>
                <a:spcPct val="130000"/>
              </a:lnSpc>
              <a:buNone/>
            </a:pPr>
            <a:r>
              <a:rPr lang="en-US" sz="1650" dirty="0">
                <a:solidFill>
                  <a:srgbClr val="475569"/>
                </a:solidFill>
                <a:latin typeface="Inter" pitchFamily="34" charset="0"/>
                <a:ea typeface="Inter" pitchFamily="34" charset="-122"/>
                <a:cs typeface="Inter" pitchFamily="34" charset="-120"/>
              </a:rPr>
              <a:t>Evaluation matrix of True vs Predicted classes (Test set)</a:t>
            </a:r>
            <a:endParaRPr lang="en-US" sz="1650" dirty="0"/>
          </a:p>
        </p:txBody>
      </p:sp>
      <p:sp>
        <p:nvSpPr>
          <p:cNvPr id="9" name="Text 5"/>
          <p:cNvSpPr/>
          <p:nvPr/>
        </p:nvSpPr>
        <p:spPr>
          <a:xfrm>
            <a:off x="8238944" y="3953618"/>
            <a:ext cx="2953626" cy="2933700"/>
          </a:xfrm>
          <a:prstGeom prst="rect">
            <a:avLst/>
          </a:prstGeom>
          <a:noFill/>
          <a:ln/>
        </p:spPr>
        <p:txBody>
          <a:bodyPr wrap="square" rtlCol="0" anchor="ctr"/>
          <a:lstStyle/>
          <a:p>
            <a:pPr algn="r" indent="0" marL="0">
              <a:buNone/>
            </a:pPr>
            <a:r>
              <a:rPr lang="en-US" sz="1710" b="1" dirty="0">
                <a:solidFill>
                  <a:srgbClr val="64748B"/>
                </a:solidFill>
                <a:latin typeface="Inter" pitchFamily="34" charset="0"/>
                <a:ea typeface="Inter" pitchFamily="34" charset="-122"/>
                <a:cs typeface="Inter" pitchFamily="34" charset="-120"/>
              </a:rPr>
              <a:t>Actual Setosa</a:t>
            </a:r>
            <a:endParaRPr lang="en-US" sz="1710" dirty="0"/>
          </a:p>
          <a:p>
            <a:pPr algn="r" indent="0" marL="0">
              <a:buNone/>
            </a:pPr>
            <a:r>
              <a:rPr lang="en-US" sz="1710" b="1" dirty="0">
                <a:solidFill>
                  <a:srgbClr val="64748B"/>
                </a:solidFill>
                <a:latin typeface="Inter" pitchFamily="34" charset="0"/>
                <a:ea typeface="Inter" pitchFamily="34" charset="-122"/>
                <a:cs typeface="Inter" pitchFamily="34" charset="-120"/>
              </a:rPr>
              <a:t>Actual Versicolor</a:t>
            </a:r>
            <a:endParaRPr lang="en-US" sz="1710" dirty="0"/>
          </a:p>
          <a:p>
            <a:pPr algn="r" indent="0" marL="0">
              <a:buNone/>
            </a:pPr>
            <a:r>
              <a:rPr lang="en-US" sz="1710" b="1" dirty="0">
                <a:solidFill>
                  <a:srgbClr val="64748B"/>
                </a:solidFill>
                <a:latin typeface="Inter" pitchFamily="34" charset="0"/>
                <a:ea typeface="Inter" pitchFamily="34" charset="-122"/>
                <a:cs typeface="Inter" pitchFamily="34" charset="-120"/>
              </a:rPr>
              <a:t>Actual Virginica</a:t>
            </a:r>
            <a:endParaRPr lang="en-US" sz="1710" dirty="0"/>
          </a:p>
        </p:txBody>
      </p:sp>
      <p:sp>
        <p:nvSpPr>
          <p:cNvPr id="10" name="Text 6"/>
          <p:cNvSpPr/>
          <p:nvPr/>
        </p:nvSpPr>
        <p:spPr>
          <a:xfrm>
            <a:off x="11239881" y="7191375"/>
            <a:ext cx="4857750" cy="228600"/>
          </a:xfrm>
          <a:prstGeom prst="rect">
            <a:avLst/>
          </a:prstGeom>
          <a:noFill/>
          <a:ln/>
        </p:spPr>
        <p:txBody>
          <a:bodyPr wrap="square" rtlCol="0" anchor="ctr"/>
          <a:lstStyle/>
          <a:p>
            <a:pPr algn="ctr" indent="0" marL="0">
              <a:lnSpc>
                <a:spcPct val="120000"/>
              </a:lnSpc>
              <a:buNone/>
            </a:pPr>
            <a:r>
              <a:rPr lang="en-US" sz="1350" b="1" dirty="0">
                <a:solidFill>
                  <a:srgbClr val="64748B"/>
                </a:solidFill>
                <a:latin typeface="Inter" pitchFamily="34" charset="0"/>
                <a:ea typeface="Inter" pitchFamily="34" charset="-122"/>
                <a:cs typeface="Inter" pitchFamily="34" charset="-120"/>
              </a:rPr>
              <a:t>Pred Setosa          Pred Versicolor          Pred Virginica</a:t>
            </a:r>
            <a:endParaRPr lang="en-US" sz="1350" dirty="0"/>
          </a:p>
        </p:txBody>
      </p:sp>
      <p:pic>
        <p:nvPicPr>
          <p:cNvPr id="11" name="Image 2" descr="preencoded.png">    </p:cNvPr>
          <p:cNvPicPr>
            <a:picLocks noChangeAspect="1"/>
          </p:cNvPicPr>
          <p:nvPr/>
        </p:nvPicPr>
        <p:blipFill>
          <a:blip r:embed="rId3"/>
          <a:stretch>
            <a:fillRect/>
          </a:stretch>
        </p:blipFill>
        <p:spPr>
          <a:xfrm>
            <a:off x="11525250" y="3619500"/>
            <a:ext cx="1143000" cy="1047750"/>
          </a:xfrm>
          <a:prstGeom prst="rect">
            <a:avLst/>
          </a:prstGeom>
        </p:spPr>
      </p:pic>
      <p:sp>
        <p:nvSpPr>
          <p:cNvPr id="12" name="Text 7"/>
          <p:cNvSpPr/>
          <p:nvPr/>
        </p:nvSpPr>
        <p:spPr>
          <a:xfrm>
            <a:off x="11525250" y="3952875"/>
            <a:ext cx="1143000" cy="304800"/>
          </a:xfrm>
          <a:prstGeom prst="rect">
            <a:avLst/>
          </a:prstGeom>
          <a:noFill/>
          <a:ln/>
        </p:spPr>
        <p:txBody>
          <a:bodyPr wrap="square" rtlCol="0" anchor="ctr"/>
          <a:lstStyle/>
          <a:p>
            <a:pPr algn="ctr" indent="0" marL="0">
              <a:lnSpc>
                <a:spcPct val="100000"/>
              </a:lnSpc>
              <a:buNone/>
            </a:pPr>
            <a:r>
              <a:rPr lang="en-US" sz="2400" b="1" dirty="0">
                <a:solidFill>
                  <a:srgbClr val="FFFFFF"/>
                </a:solidFill>
                <a:latin typeface="Inter" pitchFamily="34" charset="0"/>
                <a:ea typeface="Inter" pitchFamily="34" charset="-122"/>
                <a:cs typeface="Inter" pitchFamily="34" charset="-120"/>
              </a:rPr>
              <a:t>15</a:t>
            </a:r>
            <a:endParaRPr lang="en-US" sz="2400" dirty="0"/>
          </a:p>
        </p:txBody>
      </p:sp>
      <p:pic>
        <p:nvPicPr>
          <p:cNvPr id="13" name="Image 3" descr="preencoded.png">    </p:cNvPr>
          <p:cNvPicPr>
            <a:picLocks noChangeAspect="1"/>
          </p:cNvPicPr>
          <p:nvPr/>
        </p:nvPicPr>
        <p:blipFill>
          <a:blip r:embed="rId4"/>
          <a:stretch>
            <a:fillRect/>
          </a:stretch>
        </p:blipFill>
        <p:spPr>
          <a:xfrm>
            <a:off x="13049250" y="4762500"/>
            <a:ext cx="1143000" cy="1047750"/>
          </a:xfrm>
          <a:prstGeom prst="rect">
            <a:avLst/>
          </a:prstGeom>
        </p:spPr>
      </p:pic>
      <p:sp>
        <p:nvSpPr>
          <p:cNvPr id="14" name="Text 8"/>
          <p:cNvSpPr/>
          <p:nvPr/>
        </p:nvSpPr>
        <p:spPr>
          <a:xfrm>
            <a:off x="13049250" y="5095875"/>
            <a:ext cx="1143000" cy="304800"/>
          </a:xfrm>
          <a:prstGeom prst="rect">
            <a:avLst/>
          </a:prstGeom>
          <a:noFill/>
          <a:ln/>
        </p:spPr>
        <p:txBody>
          <a:bodyPr wrap="square" rtlCol="0" anchor="ctr"/>
          <a:lstStyle/>
          <a:p>
            <a:pPr algn="ctr" indent="0" marL="0">
              <a:lnSpc>
                <a:spcPct val="100000"/>
              </a:lnSpc>
              <a:buNone/>
            </a:pPr>
            <a:r>
              <a:rPr lang="en-US" sz="2400" b="1" dirty="0">
                <a:solidFill>
                  <a:srgbClr val="FFFFFF"/>
                </a:solidFill>
                <a:latin typeface="Inter" pitchFamily="34" charset="0"/>
                <a:ea typeface="Inter" pitchFamily="34" charset="-122"/>
                <a:cs typeface="Inter" pitchFamily="34" charset="-120"/>
              </a:rPr>
              <a:t>14</a:t>
            </a:r>
            <a:endParaRPr lang="en-US" sz="2400" dirty="0"/>
          </a:p>
        </p:txBody>
      </p:sp>
      <p:pic>
        <p:nvPicPr>
          <p:cNvPr id="15" name="Image 4" descr="preencoded.png">    </p:cNvPr>
          <p:cNvPicPr>
            <a:picLocks noChangeAspect="1"/>
          </p:cNvPicPr>
          <p:nvPr/>
        </p:nvPicPr>
        <p:blipFill>
          <a:blip r:embed="rId5"/>
          <a:stretch>
            <a:fillRect/>
          </a:stretch>
        </p:blipFill>
        <p:spPr>
          <a:xfrm>
            <a:off x="14573250" y="5905500"/>
            <a:ext cx="1143000" cy="1047750"/>
          </a:xfrm>
          <a:prstGeom prst="rect">
            <a:avLst/>
          </a:prstGeom>
        </p:spPr>
      </p:pic>
      <p:sp>
        <p:nvSpPr>
          <p:cNvPr id="16" name="Text 9"/>
          <p:cNvSpPr/>
          <p:nvPr/>
        </p:nvSpPr>
        <p:spPr>
          <a:xfrm>
            <a:off x="14573250" y="6238875"/>
            <a:ext cx="1143000" cy="304800"/>
          </a:xfrm>
          <a:prstGeom prst="rect">
            <a:avLst/>
          </a:prstGeom>
          <a:noFill/>
          <a:ln/>
        </p:spPr>
        <p:txBody>
          <a:bodyPr wrap="square" rtlCol="0" anchor="ctr"/>
          <a:lstStyle/>
          <a:p>
            <a:pPr algn="ctr" indent="0" marL="0">
              <a:lnSpc>
                <a:spcPct val="100000"/>
              </a:lnSpc>
              <a:buNone/>
            </a:pPr>
            <a:r>
              <a:rPr lang="en-US" sz="2400" b="1" dirty="0">
                <a:solidFill>
                  <a:srgbClr val="FFFFFF"/>
                </a:solidFill>
                <a:latin typeface="Inter" pitchFamily="34" charset="0"/>
                <a:ea typeface="Inter" pitchFamily="34" charset="-122"/>
                <a:cs typeface="Inter" pitchFamily="34" charset="-120"/>
              </a:rPr>
              <a:t>15</a:t>
            </a:r>
            <a:endParaRPr lang="en-US" sz="2400" dirty="0"/>
          </a:p>
        </p:txBody>
      </p:sp>
      <p:pic>
        <p:nvPicPr>
          <p:cNvPr id="17" name="Image 5" descr="preencoded.png">    </p:cNvPr>
          <p:cNvPicPr>
            <a:picLocks noChangeAspect="1"/>
          </p:cNvPicPr>
          <p:nvPr/>
        </p:nvPicPr>
        <p:blipFill>
          <a:blip r:embed="rId6"/>
          <a:stretch>
            <a:fillRect/>
          </a:stretch>
        </p:blipFill>
        <p:spPr>
          <a:xfrm>
            <a:off x="14573250" y="4762500"/>
            <a:ext cx="1143000" cy="1047750"/>
          </a:xfrm>
          <a:prstGeom prst="rect">
            <a:avLst/>
          </a:prstGeom>
        </p:spPr>
      </p:pic>
      <p:sp>
        <p:nvSpPr>
          <p:cNvPr id="18" name="Text 10"/>
          <p:cNvSpPr/>
          <p:nvPr/>
        </p:nvSpPr>
        <p:spPr>
          <a:xfrm>
            <a:off x="14573250" y="5095875"/>
            <a:ext cx="1143000" cy="304800"/>
          </a:xfrm>
          <a:prstGeom prst="rect">
            <a:avLst/>
          </a:prstGeom>
          <a:noFill/>
          <a:ln/>
        </p:spPr>
        <p:txBody>
          <a:bodyPr wrap="square" rtlCol="0" anchor="ctr"/>
          <a:lstStyle/>
          <a:p>
            <a:pPr algn="ctr" indent="0" marL="0">
              <a:lnSpc>
                <a:spcPct val="100000"/>
              </a:lnSpc>
              <a:buNone/>
            </a:pPr>
            <a:r>
              <a:rPr lang="en-US" sz="2400" b="1" dirty="0">
                <a:solidFill>
                  <a:srgbClr val="EF4444"/>
                </a:solidFill>
                <a:latin typeface="Inter" pitchFamily="34" charset="0"/>
                <a:ea typeface="Inter" pitchFamily="34" charset="-122"/>
                <a:cs typeface="Inter" pitchFamily="34" charset="-120"/>
              </a:rPr>
              <a:t>1</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7620000" cy="561975"/>
          </a:xfrm>
          <a:prstGeom prst="rect">
            <a:avLst/>
          </a:prstGeom>
          <a:noFill/>
          <a:ln/>
        </p:spPr>
        <p:txBody>
          <a:bodyPr wrap="square" rtlCol="0" anchor="ctr"/>
          <a:lstStyle/>
          <a:p>
            <a:pPr algn="l" indent="0" marL="0">
              <a:lnSpc>
                <a:spcPct val="110000"/>
              </a:lnSpc>
              <a:buNone/>
            </a:pPr>
            <a:r>
              <a:rPr lang="en-US" sz="4050" b="1" dirty="0">
                <a:solidFill>
                  <a:srgbClr val="0F172A"/>
                </a:solidFill>
                <a:latin typeface="Playfair Display" pitchFamily="34" charset="0"/>
                <a:ea typeface="Playfair Display" pitchFamily="34" charset="-122"/>
                <a:cs typeface="Playfair Display" pitchFamily="34" charset="-120"/>
              </a:rPr>
              <a:t>Learning Outcomes</a:t>
            </a:r>
            <a:endParaRPr lang="en-US" sz="4050" dirty="0"/>
          </a:p>
        </p:txBody>
      </p:sp>
      <p:pic>
        <p:nvPicPr>
          <p:cNvPr id="3" name="Image 0" descr="preencoded.png">    </p:cNvPr>
          <p:cNvPicPr>
            <a:picLocks noChangeAspect="1"/>
          </p:cNvPicPr>
          <p:nvPr/>
        </p:nvPicPr>
        <p:blipFill>
          <a:blip r:embed="rId1"/>
          <a:stretch>
            <a:fillRect/>
          </a:stretch>
        </p:blipFill>
        <p:spPr>
          <a:xfrm>
            <a:off x="952500" y="1809750"/>
            <a:ext cx="762000" cy="38100"/>
          </a:xfrm>
          <a:prstGeom prst="rect">
            <a:avLst/>
          </a:prstGeom>
        </p:spPr>
      </p:pic>
      <p:sp>
        <p:nvSpPr>
          <p:cNvPr id="4" name="Text 1"/>
          <p:cNvSpPr/>
          <p:nvPr/>
        </p:nvSpPr>
        <p:spPr>
          <a:xfrm>
            <a:off x="952500" y="2190750"/>
            <a:ext cx="9525000" cy="333375"/>
          </a:xfrm>
          <a:prstGeom prst="rect">
            <a:avLst/>
          </a:prstGeom>
          <a:noFill/>
          <a:ln/>
        </p:spPr>
        <p:txBody>
          <a:bodyPr wrap="square" rtlCol="0" anchor="ctr"/>
          <a:lstStyle/>
          <a:p>
            <a:pPr algn="l" indent="0" marL="0">
              <a:lnSpc>
                <a:spcPct val="130000"/>
              </a:lnSpc>
              <a:buNone/>
            </a:pPr>
            <a:r>
              <a:rPr lang="en-US" sz="2100" dirty="0">
                <a:solidFill>
                  <a:srgbClr val="64748B"/>
                </a:solidFill>
                <a:latin typeface="Inter" pitchFamily="34" charset="0"/>
                <a:ea typeface="Inter" pitchFamily="34" charset="-122"/>
                <a:cs typeface="Inter" pitchFamily="34" charset="-120"/>
              </a:rPr>
              <a:t>Core structural competencies gained throughout the project lifecycle</a:t>
            </a:r>
            <a:endParaRPr lang="en-US" sz="2100" dirty="0"/>
          </a:p>
        </p:txBody>
      </p:sp>
      <p:pic>
        <p:nvPicPr>
          <p:cNvPr id="5" name="Image 1" descr="preencoded.png">    </p:cNvPr>
          <p:cNvPicPr>
            <a:picLocks noChangeAspect="1"/>
          </p:cNvPicPr>
          <p:nvPr/>
        </p:nvPicPr>
        <p:blipFill>
          <a:blip r:embed="rId2"/>
          <a:stretch>
            <a:fillRect/>
          </a:stretch>
        </p:blipFill>
        <p:spPr>
          <a:xfrm>
            <a:off x="952500" y="2857500"/>
            <a:ext cx="16383000" cy="9525"/>
          </a:xfrm>
          <a:prstGeom prst="rect">
            <a:avLst/>
          </a:prstGeom>
        </p:spPr>
      </p:pic>
      <p:pic>
        <p:nvPicPr>
          <p:cNvPr id="6" name="Image 2" descr="preencoded.png">    </p:cNvPr>
          <p:cNvPicPr>
            <a:picLocks noChangeAspect="1"/>
          </p:cNvPicPr>
          <p:nvPr/>
        </p:nvPicPr>
        <p:blipFill>
          <a:blip r:embed="rId3"/>
          <a:stretch>
            <a:fillRect/>
          </a:stretch>
        </p:blipFill>
        <p:spPr>
          <a:xfrm>
            <a:off x="952500" y="4381500"/>
            <a:ext cx="16383000" cy="9525"/>
          </a:xfrm>
          <a:prstGeom prst="rect">
            <a:avLst/>
          </a:prstGeom>
        </p:spPr>
      </p:pic>
      <p:pic>
        <p:nvPicPr>
          <p:cNvPr id="7" name="Image 3" descr="preencoded.png">    </p:cNvPr>
          <p:cNvPicPr>
            <a:picLocks noChangeAspect="1"/>
          </p:cNvPicPr>
          <p:nvPr/>
        </p:nvPicPr>
        <p:blipFill>
          <a:blip r:embed="rId4"/>
          <a:stretch>
            <a:fillRect/>
          </a:stretch>
        </p:blipFill>
        <p:spPr>
          <a:xfrm>
            <a:off x="952500" y="5905500"/>
            <a:ext cx="16383000" cy="9525"/>
          </a:xfrm>
          <a:prstGeom prst="rect">
            <a:avLst/>
          </a:prstGeom>
        </p:spPr>
      </p:pic>
      <p:pic>
        <p:nvPicPr>
          <p:cNvPr id="8" name="Image 4" descr="preencoded.png">    </p:cNvPr>
          <p:cNvPicPr>
            <a:picLocks noChangeAspect="1"/>
          </p:cNvPicPr>
          <p:nvPr/>
        </p:nvPicPr>
        <p:blipFill>
          <a:blip r:embed="rId5"/>
          <a:stretch>
            <a:fillRect/>
          </a:stretch>
        </p:blipFill>
        <p:spPr>
          <a:xfrm>
            <a:off x="952500" y="7429500"/>
            <a:ext cx="16383000" cy="9525"/>
          </a:xfrm>
          <a:prstGeom prst="rect">
            <a:avLst/>
          </a:prstGeom>
        </p:spPr>
      </p:pic>
      <p:pic>
        <p:nvPicPr>
          <p:cNvPr id="9" name="Image 5" descr="preencoded.png">    </p:cNvPr>
          <p:cNvPicPr>
            <a:picLocks noChangeAspect="1"/>
          </p:cNvPicPr>
          <p:nvPr/>
        </p:nvPicPr>
        <p:blipFill>
          <a:blip r:embed="rId6"/>
          <a:stretch>
            <a:fillRect/>
          </a:stretch>
        </p:blipFill>
        <p:spPr>
          <a:xfrm>
            <a:off x="952500" y="8953500"/>
            <a:ext cx="16383000" cy="9525"/>
          </a:xfrm>
          <a:prstGeom prst="rect">
            <a:avLst/>
          </a:prstGeom>
        </p:spPr>
      </p:pic>
      <p:sp>
        <p:nvSpPr>
          <p:cNvPr id="10" name="Text 2"/>
          <p:cNvSpPr/>
          <p:nvPr/>
        </p:nvSpPr>
        <p:spPr>
          <a:xfrm>
            <a:off x="952500" y="3143250"/>
            <a:ext cx="16383000" cy="1495425"/>
          </a:xfrm>
          <a:prstGeom prst="rect">
            <a:avLst/>
          </a:prstGeom>
          <a:noFill/>
          <a:ln/>
        </p:spPr>
        <p:txBody>
          <a:bodyPr wrap="square" rtlCol="0" anchor="ctr"/>
          <a:lstStyle/>
          <a:p>
            <a:pPr algn="l" indent="0" marL="0">
              <a:lnSpc>
                <a:spcPct val="140000"/>
              </a:lnSpc>
              <a:buNone/>
            </a:pPr>
            <a:r>
              <a:rPr lang="en-US" sz="2100" b="1" dirty="0">
                <a:solidFill>
                  <a:srgbClr val="2563EB"/>
                </a:solidFill>
                <a:latin typeface="Inter" pitchFamily="34" charset="0"/>
                <a:ea typeface="Inter" pitchFamily="34" charset="-122"/>
                <a:cs typeface="Inter" pitchFamily="34" charset="-120"/>
              </a:rPr>
              <a:t>01   </a:t>
            </a:r>
            <a:endParaRPr lang="en-US" sz="2100" dirty="0"/>
          </a:p>
          <a:p>
            <a:pPr algn="l" indent="0" marL="0">
              <a:lnSpc>
                <a:spcPct val="140000"/>
              </a:lnSpc>
              <a:buNone/>
            </a:pPr>
            <a:r>
              <a:rPr lang="en-US" sz="2100" b="1" dirty="0">
                <a:solidFill>
                  <a:srgbClr val="0F172A"/>
                </a:solidFill>
                <a:latin typeface="Inter" pitchFamily="34" charset="0"/>
                <a:ea typeface="Inter" pitchFamily="34" charset="-122"/>
                <a:cs typeface="Inter" pitchFamily="34" charset="-120"/>
              </a:rPr>
              <a:t>EXPLORATORY DATA ANALYSIS      </a:t>
            </a:r>
            <a:endParaRPr lang="en-US" sz="2100" dirty="0"/>
          </a:p>
          <a:p>
            <a:pPr algn="l" indent="0" marL="0">
              <a:lnSpc>
                <a:spcPct val="140000"/>
              </a:lnSpc>
              <a:buNone/>
            </a:pPr>
            <a:r>
              <a:rPr lang="en-US" sz="2100" dirty="0">
                <a:solidFill>
                  <a:srgbClr val="475569"/>
                </a:solidFill>
                <a:latin typeface="Inter" pitchFamily="34" charset="0"/>
                <a:ea typeface="Inter" pitchFamily="34" charset="-122"/>
                <a:cs typeface="Inter" pitchFamily="34" charset="-120"/>
              </a:rPr>
              <a:t>Developed capability to pre-process raw statistical datasets, audit balance and features across floral attributes, and partition raw coordinates into clean modeling pipelines.</a:t>
            </a:r>
            <a:endParaRPr lang="en-US" sz="2100" dirty="0"/>
          </a:p>
        </p:txBody>
      </p:sp>
      <p:sp>
        <p:nvSpPr>
          <p:cNvPr id="11" name="Text 3"/>
          <p:cNvSpPr/>
          <p:nvPr/>
        </p:nvSpPr>
        <p:spPr>
          <a:xfrm>
            <a:off x="952500" y="4667250"/>
            <a:ext cx="16383000" cy="1495425"/>
          </a:xfrm>
          <a:prstGeom prst="rect">
            <a:avLst/>
          </a:prstGeom>
          <a:noFill/>
          <a:ln/>
        </p:spPr>
        <p:txBody>
          <a:bodyPr wrap="square" rtlCol="0" anchor="ctr"/>
          <a:lstStyle/>
          <a:p>
            <a:pPr algn="l" indent="0" marL="0">
              <a:lnSpc>
                <a:spcPct val="140000"/>
              </a:lnSpc>
              <a:buNone/>
            </a:pPr>
            <a:r>
              <a:rPr lang="en-US" sz="2100" b="1" dirty="0">
                <a:solidFill>
                  <a:srgbClr val="2563EB"/>
                </a:solidFill>
                <a:latin typeface="Inter" pitchFamily="34" charset="0"/>
                <a:ea typeface="Inter" pitchFamily="34" charset="-122"/>
                <a:cs typeface="Inter" pitchFamily="34" charset="-120"/>
              </a:rPr>
              <a:t>02   </a:t>
            </a:r>
            <a:endParaRPr lang="en-US" sz="2100" dirty="0"/>
          </a:p>
          <a:p>
            <a:pPr algn="l" indent="0" marL="0">
              <a:lnSpc>
                <a:spcPct val="140000"/>
              </a:lnSpc>
              <a:buNone/>
            </a:pPr>
            <a:r>
              <a:rPr lang="en-US" sz="2100" b="1" dirty="0">
                <a:solidFill>
                  <a:srgbClr val="0F172A"/>
                </a:solidFill>
                <a:latin typeface="Inter" pitchFamily="34" charset="0"/>
                <a:ea typeface="Inter" pitchFamily="34" charset="-122"/>
                <a:cs typeface="Inter" pitchFamily="34" charset="-120"/>
              </a:rPr>
              <a:t>STATISTICAL VISUALIZATION     </a:t>
            </a:r>
            <a:endParaRPr lang="en-US" sz="2100" dirty="0"/>
          </a:p>
          <a:p>
            <a:pPr algn="l" indent="0" marL="0">
              <a:lnSpc>
                <a:spcPct val="140000"/>
              </a:lnSpc>
              <a:buNone/>
            </a:pPr>
            <a:r>
              <a:rPr lang="en-US" sz="2100" dirty="0">
                <a:solidFill>
                  <a:srgbClr val="475569"/>
                </a:solidFill>
                <a:latin typeface="Inter" pitchFamily="34" charset="0"/>
                <a:ea typeface="Inter" pitchFamily="34" charset="-122"/>
                <a:cs typeface="Inter" pitchFamily="34" charset="-120"/>
              </a:rPr>
              <a:t>Gained experience in identifying distribution patterns and visual cluster boundaries using advanced pair plot matrices and spatial scattering.</a:t>
            </a:r>
            <a:endParaRPr lang="en-US" sz="2100" dirty="0"/>
          </a:p>
        </p:txBody>
      </p:sp>
      <p:sp>
        <p:nvSpPr>
          <p:cNvPr id="12" name="Text 4"/>
          <p:cNvSpPr/>
          <p:nvPr/>
        </p:nvSpPr>
        <p:spPr>
          <a:xfrm>
            <a:off x="952500" y="6191250"/>
            <a:ext cx="16383000" cy="1123950"/>
          </a:xfrm>
          <a:prstGeom prst="rect">
            <a:avLst/>
          </a:prstGeom>
          <a:noFill/>
          <a:ln/>
        </p:spPr>
        <p:txBody>
          <a:bodyPr wrap="square" rtlCol="0" anchor="ctr"/>
          <a:lstStyle/>
          <a:p>
            <a:pPr algn="l" indent="0" marL="0">
              <a:lnSpc>
                <a:spcPct val="140000"/>
              </a:lnSpc>
              <a:buNone/>
            </a:pPr>
            <a:r>
              <a:rPr lang="en-US" sz="2100" b="1" dirty="0">
                <a:solidFill>
                  <a:srgbClr val="2563EB"/>
                </a:solidFill>
                <a:latin typeface="Inter" pitchFamily="34" charset="0"/>
                <a:ea typeface="Inter" pitchFamily="34" charset="-122"/>
                <a:cs typeface="Inter" pitchFamily="34" charset="-120"/>
              </a:rPr>
              <a:t>03   </a:t>
            </a:r>
            <a:endParaRPr lang="en-US" sz="2100" dirty="0"/>
          </a:p>
          <a:p>
            <a:pPr algn="l" indent="0" marL="0">
              <a:lnSpc>
                <a:spcPct val="140000"/>
              </a:lnSpc>
              <a:buNone/>
            </a:pPr>
            <a:r>
              <a:rPr lang="en-US" sz="2100" b="1" dirty="0">
                <a:solidFill>
                  <a:srgbClr val="0F172A"/>
                </a:solidFill>
                <a:latin typeface="Inter" pitchFamily="34" charset="0"/>
                <a:ea typeface="Inter" pitchFamily="34" charset="-122"/>
                <a:cs typeface="Inter" pitchFamily="34" charset="-120"/>
              </a:rPr>
              <a:t>ALGORITHM IMPLEMENTATION      </a:t>
            </a:r>
            <a:endParaRPr lang="en-US" sz="2100" dirty="0"/>
          </a:p>
          <a:p>
            <a:pPr algn="l" indent="0" marL="0">
              <a:lnSpc>
                <a:spcPct val="140000"/>
              </a:lnSpc>
              <a:buNone/>
            </a:pPr>
            <a:r>
              <a:rPr lang="en-US" sz="2100" dirty="0">
                <a:solidFill>
                  <a:srgbClr val="475569"/>
                </a:solidFill>
                <a:latin typeface="Inter" pitchFamily="34" charset="0"/>
                <a:ea typeface="Inter" pitchFamily="34" charset="-122"/>
                <a:cs typeface="Inter" pitchFamily="34" charset="-120"/>
              </a:rPr>
              <a:t>Implemented instance-based supervised K-Nearest Neighbors classifier from scratch, optimizing metrics to prevent overfitting.</a:t>
            </a:r>
            <a:endParaRPr lang="en-US" sz="2100" dirty="0"/>
          </a:p>
        </p:txBody>
      </p:sp>
      <p:sp>
        <p:nvSpPr>
          <p:cNvPr id="13" name="Text 5"/>
          <p:cNvSpPr/>
          <p:nvPr/>
        </p:nvSpPr>
        <p:spPr>
          <a:xfrm>
            <a:off x="952500" y="7715250"/>
            <a:ext cx="16383000" cy="1495425"/>
          </a:xfrm>
          <a:prstGeom prst="rect">
            <a:avLst/>
          </a:prstGeom>
          <a:noFill/>
          <a:ln/>
        </p:spPr>
        <p:txBody>
          <a:bodyPr wrap="square" rtlCol="0" anchor="ctr"/>
          <a:lstStyle/>
          <a:p>
            <a:pPr algn="l" indent="0" marL="0">
              <a:lnSpc>
                <a:spcPct val="140000"/>
              </a:lnSpc>
              <a:buNone/>
            </a:pPr>
            <a:r>
              <a:rPr lang="en-US" sz="2100" b="1" dirty="0">
                <a:solidFill>
                  <a:srgbClr val="2563EB"/>
                </a:solidFill>
                <a:latin typeface="Inter" pitchFamily="34" charset="0"/>
                <a:ea typeface="Inter" pitchFamily="34" charset="-122"/>
                <a:cs typeface="Inter" pitchFamily="34" charset="-120"/>
              </a:rPr>
              <a:t>04   </a:t>
            </a:r>
            <a:endParaRPr lang="en-US" sz="2100" dirty="0"/>
          </a:p>
          <a:p>
            <a:pPr algn="l" indent="0" marL="0">
              <a:lnSpc>
                <a:spcPct val="140000"/>
              </a:lnSpc>
              <a:buNone/>
            </a:pPr>
            <a:r>
              <a:rPr lang="en-US" sz="2100" b="1" dirty="0">
                <a:solidFill>
                  <a:srgbClr val="0F172A"/>
                </a:solidFill>
                <a:latin typeface="Inter" pitchFamily="34" charset="0"/>
                <a:ea typeface="Inter" pitchFamily="34" charset="-122"/>
                <a:cs typeface="Inter" pitchFamily="34" charset="-120"/>
              </a:rPr>
              <a:t>METRICS &amp; EVALUATION          </a:t>
            </a:r>
            <a:endParaRPr lang="en-US" sz="2100" dirty="0"/>
          </a:p>
          <a:p>
            <a:pPr algn="l" indent="0" marL="0">
              <a:lnSpc>
                <a:spcPct val="140000"/>
              </a:lnSpc>
              <a:buNone/>
            </a:pPr>
            <a:r>
              <a:rPr lang="en-US" sz="2100" dirty="0">
                <a:solidFill>
                  <a:srgbClr val="475569"/>
                </a:solidFill>
                <a:latin typeface="Inter" pitchFamily="34" charset="0"/>
                <a:ea typeface="Inter" pitchFamily="34" charset="-122"/>
                <a:cs typeface="Inter" pitchFamily="34" charset="-120"/>
              </a:rPr>
              <a:t>Mastered parsing performance evaluations including Precision, Recall, Confusion Matrices, and overall Accuracy scoring calculations.</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4357" y="2308822"/>
            <a:ext cx="7620000" cy="6400800"/>
          </a:xfrm>
          <a:prstGeom prst="rect">
            <a:avLst/>
          </a:prstGeom>
          <a:noFill/>
          <a:ln/>
        </p:spPr>
        <p:txBody>
          <a:bodyPr wrap="square" rtlCol="0" anchor="ctr"/>
          <a:lstStyle/>
          <a:p>
            <a:pPr algn="l" indent="0" marL="0">
              <a:lnSpc>
                <a:spcPct val="160000"/>
              </a:lnSpc>
              <a:buNone/>
            </a:pPr>
            <a:r>
              <a:rPr lang="en-US" sz="2250" b="1" dirty="0">
                <a:solidFill>
                  <a:srgbClr val="34D399"/>
                </a:solidFill>
                <a:latin typeface="Inter" pitchFamily="34" charset="0"/>
                <a:ea typeface="Inter" pitchFamily="34" charset="-122"/>
                <a:cs typeface="Inter" pitchFamily="34" charset="-120"/>
              </a:rPr>
              <a:t>CONCLUSION</a:t>
            </a:r>
            <a:endParaRPr lang="en-US" sz="2250" dirty="0"/>
          </a:p>
          <a:p>
            <a:pPr algn="l" indent="0" marL="0">
              <a:lnSpc>
                <a:spcPct val="160000"/>
              </a:lnSpc>
              <a:buNone/>
            </a:pPr>
            <a:r>
              <a:rPr lang="en-US" sz="2250" b="1" dirty="0">
                <a:solidFill>
                  <a:srgbClr val="FFFFFF"/>
                </a:solidFill>
                <a:latin typeface="Inter" pitchFamily="34" charset="0"/>
                <a:ea typeface="Inter" pitchFamily="34" charset="-122"/>
                <a:cs typeface="Inter" pitchFamily="34" charset="-120"/>
              </a:rPr>
              <a:t>Bridging Botanical Complexity &amp; AI</a:t>
            </a:r>
            <a:endParaRPr lang="en-US" sz="2250" dirty="0"/>
          </a:p>
          <a:p>
            <a:pPr algn="l" marL="342900" indent="-342900">
              <a:lnSpc>
                <a:spcPct val="160000"/>
              </a:lnSpc>
              <a:buSzPct val="100000"/>
              <a:buChar char="•"/>
            </a:pPr>
            <a:r>
              <a:rPr lang="en-US" sz="2250" b="1" dirty="0">
                <a:solidFill>
                  <a:srgbClr val="34D399"/>
                </a:solidFill>
                <a:latin typeface="Inter" pitchFamily="34" charset="0"/>
                <a:ea typeface="Inter" pitchFamily="34" charset="-122"/>
                <a:cs typeface="Inter" pitchFamily="34" charset="-120"/>
              </a:rPr>
              <a:t>Successful Species Partitioning: </a:t>
            </a:r>
            <a:endParaRPr lang="en-US" sz="2250" dirty="0"/>
          </a:p>
          <a:p>
            <a:pPr algn="l" indent="0" marL="0">
              <a:lnSpc>
                <a:spcPct val="160000"/>
              </a:lnSpc>
              <a:buNone/>
            </a:pPr>
            <a:r>
              <a:rPr lang="en-US" sz="2250" dirty="0">
                <a:solidFill>
                  <a:srgbClr val="94A3B8"/>
                </a:solidFill>
                <a:latin typeface="Inter" pitchFamily="34" charset="0"/>
                <a:ea typeface="Inter" pitchFamily="34" charset="-122"/>
                <a:cs typeface="Inter" pitchFamily="34" charset="-120"/>
              </a:rPr>
              <a:t>Engineered an end-to-end classification pipeline that cleanly distinguishes botanical varieties with a stellar 98.7% test accuracy.</a:t>
            </a:r>
            <a:endParaRPr lang="en-US" sz="2250" dirty="0"/>
          </a:p>
          <a:p>
            <a:pPr algn="l" marL="342900" indent="-342900">
              <a:lnSpc>
                <a:spcPct val="160000"/>
              </a:lnSpc>
              <a:buSzPct val="100000"/>
              <a:buChar char="•"/>
            </a:pPr>
            <a:r>
              <a:rPr lang="en-US" sz="2250" b="1" dirty="0">
                <a:solidFill>
                  <a:srgbClr val="34D399"/>
                </a:solidFill>
                <a:latin typeface="Inter" pitchFamily="34" charset="0"/>
                <a:ea typeface="Inter" pitchFamily="34" charset="-122"/>
                <a:cs typeface="Inter" pitchFamily="34" charset="-120"/>
              </a:rPr>
              <a:t>Verified Machine Learning Strategy: </a:t>
            </a:r>
            <a:endParaRPr lang="en-US" sz="2250" dirty="0"/>
          </a:p>
          <a:p>
            <a:pPr algn="l" indent="0" marL="0">
              <a:lnSpc>
                <a:spcPct val="160000"/>
              </a:lnSpc>
              <a:buNone/>
            </a:pPr>
            <a:r>
              <a:rPr lang="en-US" sz="2250" dirty="0">
                <a:solidFill>
                  <a:srgbClr val="94A3B8"/>
                </a:solidFill>
                <a:latin typeface="Inter" pitchFamily="34" charset="0"/>
                <a:ea typeface="Inter" pitchFamily="34" charset="-122"/>
                <a:cs typeface="Inter" pitchFamily="34" charset="-120"/>
              </a:rPr>
              <a:t>Successfully demonstrated that automated computational models can dynamically map intricate morphological attributes without requiring manual rules.</a:t>
            </a:r>
            <a:endParaRPr lang="en-US" sz="2250" dirty="0"/>
          </a:p>
          <a:p>
            <a:pPr algn="l" marL="342900" indent="-342900">
              <a:lnSpc>
                <a:spcPct val="160000"/>
              </a:lnSpc>
              <a:buSzPct val="100000"/>
              <a:buChar char="•"/>
            </a:pPr>
            <a:r>
              <a:rPr lang="en-US" sz="2250" b="1" dirty="0">
                <a:solidFill>
                  <a:srgbClr val="34D399"/>
                </a:solidFill>
                <a:latin typeface="Inter" pitchFamily="34" charset="0"/>
                <a:ea typeface="Inter" pitchFamily="34" charset="-122"/>
                <a:cs typeface="Inter" pitchFamily="34" charset="-120"/>
              </a:rPr>
              <a:t>Industry Readiness: </a:t>
            </a:r>
            <a:endParaRPr lang="en-US" sz="2250" dirty="0"/>
          </a:p>
          <a:p>
            <a:pPr algn="l" indent="0" marL="0">
              <a:lnSpc>
                <a:spcPct val="160000"/>
              </a:lnSpc>
              <a:buNone/>
            </a:pPr>
            <a:r>
              <a:rPr lang="en-US" sz="2250" dirty="0">
                <a:solidFill>
                  <a:srgbClr val="94A3B8"/>
                </a:solidFill>
                <a:latin typeface="Inter" pitchFamily="34" charset="0"/>
                <a:ea typeface="Inter" pitchFamily="34" charset="-122"/>
                <a:cs typeface="Inter" pitchFamily="34" charset="-120"/>
              </a:rPr>
              <a:t>Gained vital hand-on expertise implementing structured statistical preprocessing, data exploration, and mathematical model validation loops.</a:t>
            </a:r>
            <a:endParaRPr lang="en-US" sz="2250" dirty="0"/>
          </a:p>
        </p:txBody>
      </p:sp>
      <p:pic>
        <p:nvPicPr>
          <p:cNvPr id="3" name="Image 0" descr="preencoded.png">    </p:cNvPr>
          <p:cNvPicPr>
            <a:picLocks noChangeAspect="1"/>
          </p:cNvPicPr>
          <p:nvPr/>
        </p:nvPicPr>
        <p:blipFill>
          <a:blip r:embed="rId2"/>
          <a:stretch>
            <a:fillRect/>
          </a:stretch>
        </p:blipFill>
        <p:spPr>
          <a:xfrm>
            <a:off x="9144000" y="1714500"/>
            <a:ext cx="8191500" cy="7429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cd5838fb-cfb9-4e72-a175-09e9d542728a</dc:title>
  <dc:subject>Presentation Export</dc:subject>
  <dc:creator>Design Export</dc:creator>
  <cp:lastModifiedBy>Design Export</cp:lastModifiedBy>
  <cp:revision>1</cp:revision>
  <dcterms:created xsi:type="dcterms:W3CDTF">2026-06-14T09:02:52Z</dcterms:created>
  <dcterms:modified xsi:type="dcterms:W3CDTF">2026-06-14T09:02:52Z</dcterms:modified>
</cp:coreProperties>
</file>